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VitaChain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AD2FF"/>
                </a:solidFill>
              </a:rPr>
              <a:t>Plateforme numérique intégrée pour l'agriculture intelligente
et la chaîne d'approvisionnement alimentaire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1031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30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Katara  —  IoT Agricole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21031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130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FarMarket  —  Marketplace B2B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03120"/>
            <a:ext cx="21031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2130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SecondServe  —  Anti-gaspillage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03120"/>
            <a:ext cx="2103120" cy="502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130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Administration  —  KYC &amp;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Réalisé par :   Badre Saad  ·  Kodoussi Mohammed  ·  El Karmi Yasser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93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Encadré par :   Mme Ouchra Hafssa  ·  Mme Achtaich Khadija  ·  M. Ait Daoud Mohammed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05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Faculté des Sciences Ben M'Sik  —  Département Informatique  —  DIARS  —  2025 /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Soutenu le 19 juin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88952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Problématique &amp;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Trois défis structurels dans le secteur agroalimentaire marocain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383280" cy="3017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3383280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Manque de données
agronomiques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Les agriculteurs décident sans mesures précises du sol : humidité, pH, température, conductivité.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325880"/>
            <a:ext cx="3383280" cy="3017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1581912"/>
            <a:ext cx="3383280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17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Désintermédiation
insuffisante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691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Des intermédiaires captent la valeur. Peu de contact direct entre agriculteurs et restaurateurs.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325880"/>
            <a:ext cx="3383280" cy="3017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581912"/>
            <a:ext cx="3383280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417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Gaspillage
alimentaire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691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Les invendus des restaurants partent au rebut faute d'un canal de redistribution adapté.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617720"/>
            <a:ext cx="3200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006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</a:rPr>
              <a:t>Solution : VitaChain — un seul écosystème, trois réponses complémentaires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5394960"/>
            <a:ext cx="20116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4132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Katara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5394960"/>
            <a:ext cx="201168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4132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FarMarket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5394960"/>
            <a:ext cx="201168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54132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SecondServe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5394960"/>
            <a:ext cx="201168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54132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Déploiement production · Docker · NGINX · TLS ·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80744"/>
            <a:ext cx="5303520" cy="6035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62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Tier 1  —  Présentation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36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Next.js 15  +  SecondServe (Vite 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530352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03704"/>
            <a:ext cx="5303520" cy="6035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854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Tier 2  — 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FastAPI (Python 3.12)  +  Workers async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5303520" cy="65836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26664"/>
            <a:ext cx="5303520" cy="6035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54864" cy="65836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083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</a:rPr>
              <a:t>Tier 3  — 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826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PostgreSQL 17  +  Supabase Auth &amp; 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303520" cy="6583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49624"/>
            <a:ext cx="5303520" cy="60350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54864" cy="6583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Tier 4  — 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056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Docker · NGINX 1.27 · Let's Encrypt TLS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1984248"/>
            <a:ext cx="54864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80360" y="2807208"/>
            <a:ext cx="54864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360" y="3630168"/>
            <a:ext cx="54864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</a:rPr>
              <a:t>Points clés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69164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HTTPS / TLS 1.3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9293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NGINX + Certbot + Let's Encrypt — toutes les comm. chiffrées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313432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313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Docker 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5511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6 services conteneurisés, orchestration complète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935224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9352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CI/CD GitHub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172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 jobs à chaque push : frontend, backend, DB, infra, secrets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557016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5570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Sauvegardes nightly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94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pg_dump → rclone → Backblaze B2 chaque nuit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178808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1788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416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Uptime Kuma (disponibilité) + Sentry (erreurs applicatives)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8006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800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Rate-limiting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383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NGINX : 30 req/s sur l'endpoint IoT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Sécurité : JWT multi-rôle, KYC &amp; 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Isolation des données garantie au niveau du moteur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Authentification &amp; KYC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4 rôles : FARMER · RESTAURANT · CITIZEN · ADMIN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JWT enrichi via Custom Access Token Hook Supabase
(claims : user_role + verification_status)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Durée de vie : 1 heure + rafraîchissement automatique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Clés API IoT hachées bcrypt — jamais stockées en clair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Processus KYC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05072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1.  Soumission documents (CIN / RC / carte agricole)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2.  Upload sécurisé → Supabase Storage (RLS)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3.  Revue par l'administrateur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4.  Notification email via Brevo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5.  Déblocage des actions professionnelles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984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Matrice RLS — 22 politiques 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57607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7099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099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7099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7099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CITIZEN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17099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039112"/>
            <a:ext cx="576072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075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075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75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075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2075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459736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4963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kyc_docs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880360"/>
            <a:ext cx="576072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9169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parcelles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916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916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916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2916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300984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3375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télémétrie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337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337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337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3337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721608"/>
            <a:ext cx="576072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375818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annonces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758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758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58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3758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142232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17880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commandes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1788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1788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1788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41788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562856"/>
            <a:ext cx="576072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59943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5994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anon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45994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own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5994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45994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4983480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0" y="502005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évaluations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5020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5020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</a:rPr>
              <a:t>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020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5020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54406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own = ses données uniquement  |  anon. = vue anonymisée sha256  |  D = achat livré requis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Module Katara — Surveillance IoT en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ESP32 · Télémétrie sol · Alertes · Diagnostic IA · NDVI Satellite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Dispositif ESP32 — capteurs intégrés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Humidité du sol (capteur capacitif)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Température du sol (DS18B20)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pH du sol (électrode analogique)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Conductivité électrique (EC meter)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Niveau de batterie (ADC)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Pipeline d'ingestion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22191"/>
            <a:ext cx="11430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822191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3822191"/>
            <a:ext cx="114300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822191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822191"/>
            <a:ext cx="1143000" cy="4389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84048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22191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822191"/>
            <a:ext cx="114300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84048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</a:rPr>
              <a:t>HTTPS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297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</a:rPr>
              <a:t>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54880"/>
            <a:ext cx="53035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79145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 Latence d'ingestion : &lt; 50 ms (p50)  —  fonction SQL atomique SECURITY DEFINER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2984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Fonctionnalités avancées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719072"/>
            <a:ext cx="5760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755648"/>
            <a:ext cx="576072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7922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Alertes automatiques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04825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Seuils min/max configurables par métrique → LISTEN/NOTIFY PostgreSQL → email Brevo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724912"/>
            <a:ext cx="576072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2761488"/>
            <a:ext cx="576072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7980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Diagnostic IA — Google 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05409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Télémétrie + météo OWM + NDVI Sentinel-2 → rapport agronomique en langage naturel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730752"/>
            <a:ext cx="57607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3767328"/>
            <a:ext cx="576072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8039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Détection hors-ligne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05993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Worker CRON : capteur silencieux depuis &gt; 1 h → alerte email automatique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736592"/>
            <a:ext cx="576072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4773168"/>
            <a:ext cx="576072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8097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28D9"/>
                </a:solidFill>
              </a:rPr>
              <a:t>Sécurité IoT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0657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Clé API unique par dispositif (vk_&lt;32hex&gt;), hachée bcrypt, affichée une seule fois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Module FarMarket — Marketplace Agricole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Annonces · Catalogue · Commandes multi-agriculteurs · Anonymisation · Évaluations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3035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1673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Côté Agriculteur (FARMER vérifié)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0784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Publication d'annonces avec jusqu'à 5 photos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Prix en MAD/kg · 12 régions du Maroc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Expiration automatique à J+7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Commandes entrantes anonymisées (resto_handle sha256)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Acceptation / rejet par article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53035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Côté Restaurateur (RESTAURANT vérifié)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68496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Catalogue paginé · filtres région / type / prix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Recherche textuelle floue (extension pg_trgm)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Panier multi-agriculteurs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Paiement COD (à la livraison)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Évaluation post-livraison : 1 à 5 étoiles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98448"/>
            <a:ext cx="57607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335024"/>
            <a:ext cx="57607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71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Anonymisation B2B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82496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Le restaurateur reste anonyme pour l'agriculteur via une vue SQL sécurisée :
resto_handle = sha256(restaurant_id || farmer_id)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060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Cycle de vie d'une commande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017520"/>
            <a:ext cx="1005840" cy="4023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035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017520"/>
            <a:ext cx="164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5472" y="3017520"/>
            <a:ext cx="1005840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3035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ACCEPTED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017520"/>
            <a:ext cx="164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75904" y="3017520"/>
            <a:ext cx="1005840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3035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PICKED_UP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3017520"/>
            <a:ext cx="164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6336" y="3017520"/>
            <a:ext cx="1005840" cy="40233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6336" y="3035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IN_TRANSIT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52176" y="3017520"/>
            <a:ext cx="1645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16768" y="3017520"/>
            <a:ext cx="1005840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16768" y="3035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DELIVERED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703320"/>
            <a:ext cx="5760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3739896"/>
            <a:ext cx="576072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776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Snapshot Pattern (prix)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05079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unit_price_snapshot copié à la commande — protège contre les
variations de prix ultérieures.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709160"/>
            <a:ext cx="576072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4745736"/>
            <a:ext cx="57607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7823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Contrainte évaluation (RLS)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03834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Un restaurateur ne peut évaluer qu'un agriculteur dont au moins 1 article est DELIVERED.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Module SecondServe — Anti-gaspillage alimentaire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Offres surplus · Commandes citoyens · SSO Magic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00784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EA580C"/>
                </a:solidFill>
              </a:rPr>
              <a:t>● </a:t>
            </a:r>
            <a:r>
              <a:rPr sz="1300">
                <a:solidFill>
                  <a:srgbClr val="0F172A"/>
                </a:solidFill>
              </a:rPr>
              <a:t>Les restaurants publient leurs surplus du jour à prix réduit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A580C"/>
                </a:solidFill>
              </a:rPr>
              <a:t>● </a:t>
            </a:r>
            <a:r>
              <a:rPr sz="1300">
                <a:solidFill>
                  <a:srgbClr val="0F172A"/>
                </a:solidFill>
              </a:rPr>
              <a:t>Les citoyens filtrent par ville et réservent en ligne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A580C"/>
                </a:solidFill>
              </a:rPr>
              <a:t>● </a:t>
            </a:r>
            <a:r>
              <a:rPr sz="1300">
                <a:solidFill>
                  <a:srgbClr val="0F172A"/>
                </a:solidFill>
              </a:rPr>
              <a:t>Paiement en espèces à la collecte (COD)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Architecture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64992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Application Vite 6 / React 19 indépendante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Partagée sur le même projet Supabase que VitaChain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Tables préfixées ss_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Offres visibles uniquement si KYC approuvé + commerce_type défini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563EB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Commande atomique via RPC ss_place_order() — contrôle de stock intégré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984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SSO inter-application (Magic Link)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256032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755648"/>
            <a:ext cx="25603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VitaChain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737360"/>
            <a:ext cx="297180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755648"/>
            <a:ext cx="297180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SecondServe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892807"/>
            <a:ext cx="182880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423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</a:rPr>
              <a:t>OTP Supabase à usage unique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7249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Même projet Supabase — tables ss_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272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Flux SSO détaillé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493008"/>
            <a:ext cx="5760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1.  L'utilisateur clique « Accéder à SecondServe » dans VitaChain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2.  Le backend génère un OTP Supabase à usage unique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3.  Redirection vers SecondServe avec le token dans l'URL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4.  SecondServe échange le token contre une session valide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5.  Utilisateur connecté — sans ressaisie d'identifiants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Technologies · Langages · Services Cloud ·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57784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1673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Backend &amp; Base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82496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FastAPI 0.115 (Python 3.12) + Pydantic v2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PostgreSQL 17 : 50 migrations · 12 tables · 5 vues · 8 ENUM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Workers asynchrones : alertes, IA, offline, expiration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ESP32 firmware C++ (Arduino IDE)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98448"/>
            <a:ext cx="55778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1673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82496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16A34A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Next.js 15.1 (RSC + SSR) + TypeScript 5 + Tailwind CSS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6A34A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Vite 6 + React 19 + React Router v7 (SecondServe)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6A34A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Leaflet (cartes parcelles GeoJSON)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6A34A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Recharts (graphiques télémétrie temps réel)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5577840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387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Services Cloud &amp;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04488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Supabase (Auth JWT · Storage S3 · Realtime)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Google Gemini API (diagnostics agronomiques IA)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OpenWeatherMap (prévisions météo parcelles)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Copernicus / Sentinel-2 (NDVI satellite)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Brevo (emails transactionnels)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Backblaze B2 (sauvegardes nightly via rclone)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520440"/>
            <a:ext cx="557784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5387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DevOps &amp; Qualité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04488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Docker Compose (6 services conteneurisés)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NGINX 1.27 + Certbot / Let's Encrypt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GitHub Actions CI/CD (5 jobs parallèles)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EA580C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Ruff + ESLint + pgTAP + Locust (tests de charge)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Méthodologie Scrum &amp;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11 sprints de 2 semaines · Story-driven · CI/CD · ~460 heures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Tableau des sprints réalisés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4864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6543"/>
            <a:ext cx="548640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1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Sprint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3055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Infrastructure &amp; DevOps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87167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51175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Sprint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551175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Authentification &amp; KYC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07791"/>
            <a:ext cx="548640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79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Sprints 2–4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971799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Katara IoT  (6 semaines)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28415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92423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Sprints 5–7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39242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FarMarket   (6 semaines)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548640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13047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Sprint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813047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SecondServe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9663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33671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Sprint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23367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Administration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90287"/>
            <a:ext cx="548640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54295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Sprint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654295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Tests &amp; Livraison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Chiffres clés du projet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737360"/>
            <a:ext cx="173736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737360"/>
            <a:ext cx="17373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7739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</a:rPr>
              <a:t>≈ 460 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212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de développement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1737360"/>
            <a:ext cx="173736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6760" y="1737360"/>
            <a:ext cx="173736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17739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</a:rPr>
              <a:t>50+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212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migrations SQL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1737360"/>
            <a:ext cx="173736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15600" y="1737360"/>
            <a:ext cx="173736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17739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D28D9"/>
                </a:solidFill>
              </a:rPr>
              <a:t>11.5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2212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mois de travail total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880360"/>
            <a:ext cx="173736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2880360"/>
            <a:ext cx="173736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29169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≈ 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endpoints REST API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2880360"/>
            <a:ext cx="173736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66760" y="2880360"/>
            <a:ext cx="173736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29169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modules livrés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15600" y="2880360"/>
            <a:ext cx="173736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15600" y="2880360"/>
            <a:ext cx="17373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0" y="29169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</a:rPr>
              <a:t>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politiques RLS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Principes Scrum appliqués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389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Développement itératif — livraison à chaque fin de sprint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User stories avec critères d'acceptation dans docs/stories/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Pre-commit hooks : Ruff, ESLint, shellcheck, AUTH-05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Tests automatisés : pytest, pgTAP, tests E2E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2FF"/>
                </a:solidFill>
              </a:rPr>
              <a:t>Plateforme production-ready · 4 modules · Déployée · Évolutive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Objectifs atteints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Architecture full-stack production-ready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KYC + JWT multi-rôle + RLS 22 politiques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Katara IoT : ingestion &lt; 50 ms (p50)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FarMarket : cycle complet commandes B2B + anonymisation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SecondServe : SSO + lutte anti-gaspillage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Administration centralisée (KYC, users, modération)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6A34A"/>
                </a:solidFill>
              </a:rPr>
              <a:t>● </a:t>
            </a:r>
            <a:r>
              <a:rPr sz="1200">
                <a:solidFill>
                  <a:srgbClr val="0F172A"/>
                </a:solidFill>
              </a:rPr>
              <a:t>CI/CD + monitoring + sauvegardes automatisées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663440"/>
            <a:ext cx="530352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00016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VitaChain n'est pas un prototype — elle est déployée avec
HTTPS · CI/CD · sauvegardes nightly · monitoring actif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984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</a:rPr>
              <a:t>Perspectives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19072"/>
            <a:ext cx="57607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737360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Court terme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Module BotaBa9a (surveillance chaîne du froid)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Notifications push web (Web Push API)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2563EB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Application mobile native (React Native)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163824"/>
            <a:ext cx="57607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18211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Moyen terme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456432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16A34A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Passerelle de paiement (CMI / PayZone Maroc)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6A34A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ML avancé : prédiction de rendement agricole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16A34A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Traçabilité sur la chaîne FarMarket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4608576"/>
            <a:ext cx="5760720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626864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Long terme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901184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Marketplace de données agronomiques anonymisées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Intégration API MAPMDREF (Ministère Agriculture)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6D28D9"/>
                </a:solidFill>
              </a:rPr>
              <a:t>● </a:t>
            </a:r>
            <a:r>
              <a:rPr sz="1100">
                <a:solidFill>
                  <a:srgbClr val="0F172A"/>
                </a:solidFill>
              </a:rPr>
              <a:t>Réseau de capteurs IoT communautaires mutualisés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AD2FF"/>
                </a:solidFill>
              </a:rPr>
              <a:t>Badre Saad  |  Kodoussi Mohammed  |  El Karmi Yasser          VitaChain — PFE 2026          Faculté des Sciences Ben M'Sik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1218895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70448"/>
            <a:ext cx="12188952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VitaChain — PFE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563EB"/>
                </a:solidFill>
              </a:rPr>
              <a:t>Merci de votre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</a:rPr>
              <a:t>Nous sommes disponibles pour vos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52044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3520440"/>
            <a:ext cx="1554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352044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8A"/>
                </a:solidFill>
              </a:rPr>
              <a:t>Badre Saad          Kodoussi Mohammed          El Karmi Yasser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Encadré par : Mme Ouchra Hafssa  ·  Mme Achtaich Khadija  ·  M. Ait Daoud Mohammed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Faculté des Sciences Ben M'Sik  —  Département Informatique  —  DIARS  —  2025 /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Soutenu le 19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