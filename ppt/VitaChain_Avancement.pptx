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91695" cy="1371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91695" cy="457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VitaChain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0">
                <a:solidFill>
                  <a:srgbClr val="00B8A9"/>
                </a:solidFill>
                <a:latin typeface="Calibri"/>
              </a:rPr>
              <a:t>Plateforme agricole connectée — IoT, IA &amp; Logistique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F5C142"/>
                </a:solidFill>
                <a:latin typeface="Calibri"/>
              </a:rPr>
              <a:t>État d'avancement technique — soutenance PFE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10698480" cy="118872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1">
                <a:solidFill>
                  <a:srgbClr val="F5C142"/>
                </a:solidFill>
                <a:latin typeface="Consolas"/>
              </a:rPr>
              <a:t>Stack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onsolas"/>
              </a:rPr>
              <a:t>PostgreSQL 15 +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Supabase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 •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FastAPI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(Python 3.12)  •  Next.js 15 / React 19  •  Gemini 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RLS partout  •  JWT custom claims  •  bcrypt devices  •  LISTEN/NOTIFY workers 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Yasser  —  PFE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Plan de la présentation — ~25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822960" cy="9144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716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Contexte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8308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Vision, stack, modules métier, métriques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1554480"/>
            <a:ext cx="1280160" cy="365760"/>
          </a:xfrm>
          <a:prstGeom prst="rect">
            <a:avLst/>
          </a:prstGeom>
          <a:solidFill>
            <a:srgbClr val="F4F7FA"/>
          </a:solidFill>
          <a:ln>
            <a:solidFill>
              <a:srgbClr val="00B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0" y="1581912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00B8A9"/>
                </a:solidFill>
                <a:latin typeface="Calibri"/>
              </a:rPr>
              <a:t>3 slides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13431"/>
            <a:ext cx="822960" cy="914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1"/>
            <a:ext cx="822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04871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16351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PostgreSQL + Supabase — RLS forcée, JWT hook, NOTIFY, anonymisation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2587751"/>
            <a:ext cx="1280160" cy="365760"/>
          </a:xfrm>
          <a:prstGeom prst="rect">
            <a:avLst/>
          </a:prstGeom>
          <a:solidFill>
            <a:srgbClr val="F4F7FA"/>
          </a:solidFill>
          <a:ln>
            <a:solidFill>
              <a:srgbClr val="F5C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0" y="2615183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F5C142"/>
                </a:solidFill>
                <a:latin typeface="Calibri"/>
              </a:rPr>
              <a:t>5 slides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46702"/>
            <a:ext cx="82296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529582"/>
            <a:ext cx="822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438142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Backend &amp;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49622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FastAPI + 7 workers • Next.js 15 + middleware d'auth • API contract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3621022"/>
            <a:ext cx="1280160" cy="365760"/>
          </a:xfrm>
          <a:prstGeom prst="rect">
            <a:avLst/>
          </a:prstGeom>
          <a:solidFill>
            <a:srgbClr val="F4F7FA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0" y="3648454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alibri"/>
              </a:rPr>
              <a:t>7 slides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79973"/>
            <a:ext cx="822960" cy="9144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562853"/>
            <a:ext cx="822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471413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Sécurité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82893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Défense en profondeur • bcrypt devices • surface d'attaque • garde-fous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4654293"/>
            <a:ext cx="1280160" cy="365760"/>
          </a:xfrm>
          <a:prstGeom prst="rect">
            <a:avLst/>
          </a:prstGeom>
          <a:solidFill>
            <a:srgbClr val="F4F7FA"/>
          </a:solidFill>
          <a:ln>
            <a:solidFill>
              <a:srgbClr val="E04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0" y="4681725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E0494B"/>
                </a:solidFill>
                <a:latin typeface="Calibri"/>
              </a:rPr>
              <a:t>5 slides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13244"/>
            <a:ext cx="822960" cy="91440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596124"/>
            <a:ext cx="822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04684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Démo &amp;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916164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Démo live (KAT/FAR) • prochaines étapes • Q&amp;A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5687564"/>
            <a:ext cx="1280160" cy="365760"/>
          </a:xfrm>
          <a:prstGeom prst="rect">
            <a:avLst/>
          </a:prstGeom>
          <a:solidFill>
            <a:srgbClr val="F4F7FA"/>
          </a:solidFill>
          <a:ln>
            <a:solidFill>
              <a:srgbClr val="2EA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0" y="5714996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EA46E"/>
                </a:solidFill>
                <a:latin typeface="Calibri"/>
              </a:rPr>
              <a:t>3 slides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Sommaire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Une stack 100% Supabase +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28600" cy="1097280"/>
          </a:xfrm>
          <a:prstGeom prst="rect">
            <a:avLst/>
          </a:prstGeom>
          <a:solidFill>
            <a:srgbClr val="55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Devices  / 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onsolas"/>
              </a:rPr>
              <a:t>ESP32 firmware C++  •  Navigateur (desktop + mobile)  •  Webhooks externes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22860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Frontend  —  Next.js 15 / React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089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onsolas"/>
              </a:rPr>
              <a:t>App Router (SSR + RSC)  •  Tailwind 4  •  @supabase/ssr  •  Leaflet  •  Sentry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228600" cy="109728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136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Backend  —  FastAPI + Workers asynchrones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onsolas"/>
              </a:rPr>
              <a:t>16 routers REST  •  7 workers (asyncpg LISTEN)  •  Gemini  •  Brevo  •  OWM  •  Sentinel-2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2286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Base de données  —  PostgreSQL 15 (Supabase)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onsolas"/>
              </a:rPr>
              <a:t>40 migrations  •  54 policies RLS  •  Auth Hook PL/pgSQL  •  Storage  •  Realtime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Modules métier &amp; métriques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Architecture modulaire — un domaine = un module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0" cy="8686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914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Authentification &amp;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914400" cy="86868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914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146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Katara IoT (champ)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914400" cy="86868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914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747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FarMarket (marketplace)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914400" cy="868680"/>
          </a:xfrm>
          <a:prstGeom prst="rect">
            <a:avLst/>
          </a:prstGeom>
          <a:solidFill>
            <a:srgbClr val="55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914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SCN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348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SecondServe (à venir)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280160"/>
            <a:ext cx="1645920" cy="1691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1417320"/>
            <a:ext cx="1645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240280"/>
            <a:ext cx="16459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Migrations SQL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versionnées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280160"/>
            <a:ext cx="1645920" cy="169164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1417320"/>
            <a:ext cx="1645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240280"/>
            <a:ext cx="16459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Policies RLS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(100% des tables)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1280160"/>
            <a:ext cx="1645920" cy="1691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1417320"/>
            <a:ext cx="1645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240280"/>
            <a:ext cx="16459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Fonctions /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triggers 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108960"/>
            <a:ext cx="1645920" cy="169164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3246120"/>
            <a:ext cx="1645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069080"/>
            <a:ext cx="16459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Fichiers Python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(backend)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108960"/>
            <a:ext cx="1645920" cy="169164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246120"/>
            <a:ext cx="1645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069080"/>
            <a:ext cx="16459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Pages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(Next.js)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80" y="3108960"/>
            <a:ext cx="1645920" cy="1691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0" y="3246120"/>
            <a:ext cx="1645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069080"/>
            <a:ext cx="16459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Fichiers de tests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(back + front)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74920"/>
            <a:ext cx="137160" cy="12801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Principe directeur : un module = un domaine, isolé via des sous-paths et des préfixes de tables (m1_, m2_).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→ Chaque module embarque : ses migrations SQL, son router FastAPI, ses workers asynchrones, ses pages frontend, ses tests.</a:t>
            </a:r>
          </a:p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→ Couplage faible entre modules — un module peut être désactivé (SCN) sans casser les autres (KAT, FAR).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7432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0" b="1" i="0">
                <a:solidFill>
                  <a:srgbClr val="00B8A9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94560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Base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46120"/>
            <a:ext cx="8229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1">
                <a:solidFill>
                  <a:srgbClr val="F5C142"/>
                </a:solidFill>
                <a:latin typeface="Calibri"/>
              </a:rPr>
              <a:t>PostgreSQL 15 / Supabase — schéma versionné, RLS partout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 programme de cette section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Migrations versionnées (40 fichiers, idempotents, rejouables)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Modèle de données — extrait des 25+ tables métier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1 — Event trigger qui REFUSE toute table sans 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2 — JWT Auth Hook PL/pgSQL (rôle injecté à la connexion)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Flux temps réel (LISTEN/NOTIFY) + anonymisation FarMarket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Migrations versionnées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Un fichier .sql = un changement atomique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Chronologie — 40 migrations groupées par épopée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2286000" cy="8229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1051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 /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 mig.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onsolas"/>
              </a:rPr>
              <a:t>0001 → 0015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0312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Profiles, JWT hook, KYC, RLS contract, Storage 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2286000" cy="8229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7063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KAT (Katara)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16 mig.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69748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onsolas"/>
              </a:rPr>
              <a:t>0016 → 0031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06324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Parcelles, devices, télémétrie, seuils, diagnostics IA,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2286000" cy="82296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3075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FAR (FarMarket)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11 mig.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6576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onsolas"/>
              </a:rPr>
              <a:t>0032 → 0042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02336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606B"/>
                </a:solidFill>
                <a:latin typeface="Calibri"/>
              </a:rPr>
              <a:t>Ads, photos, pivot logistique, orders, tracking, notifications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Pratiques appliquées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29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Idempotence : if not exists, create or replace partout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Bookkeeping : table _migrations rejoue sans casser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Format de nom : NNNN_&lt;epic&gt;_&lt;short_desc&gt;.sql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Commentaire d'en-tête : story, raison, contraintes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57200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572000"/>
            <a:ext cx="5486400" cy="3657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6177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Garde-fous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029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scripts/verify-rls-enabled.sh : refuse table sans RLS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db/tests/auth04_rls_contract.sql : assertions pgSQL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Event trigger trg_enforce_rls_on_public_tables (DB)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Test allowlist : interdit l'usage non documenté de service_role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01 — Base de données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Modèle de données — extrait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Relations principales et choix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43584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Tables principales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916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69164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6916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id, role, verification_status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075688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kyc_documents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075688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0756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doc_type, status,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459736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m1_katara_parcels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59736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KAT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45973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geojson polygon, farmer_id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43784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m1_katara_devices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843784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KAT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84378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api_key_hash (bcrypt), parcel_id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227832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m1_katara_telemetry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227832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KAT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227832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soil_ph, EC, moisture, recorded_at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61188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m1_katara_telemetry_history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1188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KAT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1188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agrégat horaire (provenance KAT-13)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995928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m1_katara_ai_diagnostics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995928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KAT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99592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prompt, gemini_response, NDVI,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379976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m1_katara_alert_thresholds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379976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KAT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37997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min/max par mesure, par parcelle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764024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m2_farmarket_ads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764024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FAR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76402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produit, prix MAD, photos[]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148072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m2_farmarket_orders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148072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FAR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148072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8 statuts, restaurant_id, totals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532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m2_farmarket_order_items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53212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FAR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53212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snapshot prix, farmer_id, statut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916168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notifications_outbox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916168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alibri"/>
              </a:rPr>
              <a:t>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91616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pattern outbox → Brevo 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0" y="1243584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Choix techniques notables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16916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Préfixes m1_ / m2_ pour scoper par module (Katara, FarMarket)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Enums Postgres natifs (device_status, order_status) — pas de varchar libre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Index uniques PARTIELS — ex: 1 device actif par parcelle (where status&lt;&gt;'UNLINKED')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Hypertable-like sur telemetry — agrégation horaire dans table history dédiée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Triggers BEFORE INSERT pour dénormalisation contrôlée (farmer_id sync)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NOTIFY canaux : telemetry_inserted, threshold_breach, order_status_changed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Vues SECURITY INVOKER → respect de la RLS de l'appelant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Snapshot pricing sur order_items : immune aux edits d'ads après commande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Audit guards SQL : RAISE EXCEPTION si INSERT direct (force passage par RPC)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Format clé device : vk_&lt;32 hex&gt; — 128 bits d'entropie, hashé bcrypt cost=10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01 — Base de données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1 — Event trigger : RLS obligatoire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migration 0009 — il est impossible de créer une table sans 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9728" cy="521208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32588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Le problème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Une table créée sans ENABLE RLS = données exposées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Le dev peut oublier → leak silencieux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Les outils CI/Shell scripts peuvent passer à côté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La solution : 3 lignes de défense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① Test pgSQL — auth04_rls_contract.sql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② Shell CI — verify-rls-enabled.sh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③ Event trigger Postgres ← DERNIÈRE LIGNE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L'event trigger s'exécute DANS la base, quel que soit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l'auteur du CREATE TABLE (migration, psql, dashboard).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Si la RLS n'est pas activée → abort de la transaction.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188720"/>
            <a:ext cx="6492240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1234440"/>
            <a:ext cx="62727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db/migrations/0009_auth04_force_rls_contract.sql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1481328"/>
            <a:ext cx="6272784" cy="4901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create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event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trigger</a:t>
            </a:r>
            <a:r>
              <a:rPr sz="1000">
                <a:solidFill>
                  <a:srgbClr val="FFFFFF"/>
                </a:solidFill>
                <a:latin typeface="Consolas"/>
              </a:rPr>
              <a:t> trg_enforce_rls_on_public_tables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ddl_command_end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when tag </a:t>
            </a:r>
            <a:r>
              <a:rPr sz="1000">
                <a:solidFill>
                  <a:srgbClr val="F5C142"/>
                </a:solidFill>
                <a:latin typeface="Consolas"/>
              </a:rPr>
              <a:t>in</a:t>
            </a:r>
            <a:r>
              <a:rPr sz="1000">
                <a:solidFill>
                  <a:srgbClr val="FFFFFF"/>
                </a:solidFill>
                <a:latin typeface="Consolas"/>
              </a:rPr>
              <a:t> (</a:t>
            </a:r>
            <a:r>
              <a:rPr sz="1000">
                <a:solidFill>
                  <a:srgbClr val="9BE388"/>
                </a:solidFill>
                <a:latin typeface="Consolas"/>
              </a:rPr>
              <a:t>'CREATE TABLE'</a:t>
            </a:r>
            <a:r>
              <a:rPr sz="10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execute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public.enforce_rls_on_public_tables();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create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or</a:t>
            </a:r>
            <a:r>
              <a:rPr sz="1000">
                <a:solidFill>
                  <a:srgbClr val="FFFFFF"/>
                </a:solidFill>
                <a:latin typeface="Consolas"/>
              </a:rPr>
              <a:t> replace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public.enforce_rls_on_public_tables()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returns</a:t>
            </a:r>
            <a:r>
              <a:rPr sz="1000">
                <a:solidFill>
                  <a:srgbClr val="FFFFFF"/>
                </a:solidFill>
                <a:latin typeface="Consolas"/>
              </a:rPr>
              <a:t> event_trigger </a:t>
            </a:r>
            <a:r>
              <a:rPr sz="1000">
                <a:solidFill>
                  <a:srgbClr val="F5C142"/>
                </a:solidFill>
                <a:latin typeface="Consolas"/>
              </a:rPr>
              <a:t>language</a:t>
            </a:r>
            <a:r>
              <a:rPr sz="1000">
                <a:solidFill>
                  <a:srgbClr val="FFFFFF"/>
                </a:solidFill>
                <a:latin typeface="Consolas"/>
              </a:rPr>
              <a:t> plpgsql </a:t>
            </a:r>
            <a:r>
              <a:rPr sz="1000">
                <a:solidFill>
                  <a:srgbClr val="F5C142"/>
                </a:solidFill>
                <a:latin typeface="Consolas"/>
              </a:rPr>
              <a:t>security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definer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as</a:t>
            </a:r>
            <a:r>
              <a:rPr sz="1000">
                <a:solidFill>
                  <a:srgbClr val="FFFFFF"/>
                </a:solidFill>
                <a:latin typeface="Consolas"/>
              </a:rPr>
              <a:t> $$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declare</a:t>
            </a:r>
            <a:r>
              <a:rPr sz="1000">
                <a:solidFill>
                  <a:srgbClr val="FFFFFF"/>
                </a:solidFill>
                <a:latin typeface="Consolas"/>
              </a:rPr>
              <a:t> obj record; </a:t>
            </a:r>
            <a:r>
              <a:rPr sz="1000">
                <a:solidFill>
                  <a:srgbClr val="F5C142"/>
                </a:solidFill>
                <a:latin typeface="Consolas"/>
              </a:rPr>
              <a:t>begin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F5C142"/>
                </a:solidFill>
                <a:latin typeface="Consolas"/>
              </a:rPr>
              <a:t>for</a:t>
            </a:r>
            <a:r>
              <a:rPr sz="1000">
                <a:solidFill>
                  <a:srgbClr val="FFFFFF"/>
                </a:solidFill>
                <a:latin typeface="Consolas"/>
              </a:rPr>
              <a:t> obj </a:t>
            </a:r>
            <a:r>
              <a:rPr sz="1000">
                <a:solidFill>
                  <a:srgbClr val="F5C142"/>
                </a:solidFill>
                <a:latin typeface="Consolas"/>
              </a:rPr>
              <a:t>in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  <a:r>
              <a:rPr sz="1000">
                <a:solidFill>
                  <a:srgbClr val="FFFFFF"/>
                </a:solidFill>
                <a:latin typeface="Consolas"/>
              </a:rPr>
              <a:t> *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pg_event_trigger_ddl_commands()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where</a:t>
            </a:r>
            <a:r>
              <a:rPr sz="1000">
                <a:solidFill>
                  <a:srgbClr val="FFFFFF"/>
                </a:solidFill>
                <a:latin typeface="Consolas"/>
              </a:rPr>
              <a:t> command_tag = </a:t>
            </a:r>
            <a:r>
              <a:rPr sz="1000">
                <a:solidFill>
                  <a:srgbClr val="9BE388"/>
                </a:solidFill>
                <a:latin typeface="Consolas"/>
              </a:rPr>
              <a:t>'CREATE TABLE'</a:t>
            </a:r>
            <a:r>
              <a:rPr sz="1000">
                <a:solidFill>
                  <a:srgbClr val="FFFFFF"/>
                </a:solidFill>
                <a:latin typeface="Consolas"/>
              </a:rPr>
              <a:t> loop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 obj.object_identity like </a:t>
            </a:r>
            <a:r>
              <a:rPr sz="1000">
                <a:solidFill>
                  <a:srgbClr val="9BE388"/>
                </a:solidFill>
                <a:latin typeface="Consolas"/>
              </a:rPr>
              <a:t>'public.%'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then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not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exists</a:t>
            </a:r>
            <a:r>
              <a:rPr sz="1000">
                <a:solidFill>
                  <a:srgbClr val="FFFFFF"/>
                </a:solidFill>
                <a:latin typeface="Consolas"/>
              </a:rPr>
              <a:t>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  <a:r>
              <a:rPr sz="1000">
                <a:solidFill>
                  <a:srgbClr val="FFFFFF"/>
                </a:solidFill>
                <a:latin typeface="Consolas"/>
              </a:rPr>
              <a:t> 1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pg_class c </a:t>
            </a:r>
            <a:r>
              <a:rPr sz="1000">
                <a:solidFill>
                  <a:srgbClr val="F5C142"/>
                </a:solidFill>
                <a:latin typeface="Consolas"/>
              </a:rPr>
              <a:t>join</a:t>
            </a:r>
            <a:r>
              <a:rPr sz="1000">
                <a:solidFill>
                  <a:srgbClr val="FFFFFF"/>
                </a:solidFill>
                <a:latin typeface="Consolas"/>
              </a:rPr>
              <a:t> pg_namespace 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n.oid = c.relnamespace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</a:t>
            </a:r>
            <a:r>
              <a:rPr sz="1000">
                <a:solidFill>
                  <a:srgbClr val="F5C142"/>
                </a:solidFill>
                <a:latin typeface="Consolas"/>
              </a:rPr>
              <a:t>where</a:t>
            </a:r>
            <a:r>
              <a:rPr sz="1000">
                <a:solidFill>
                  <a:srgbClr val="FFFFFF"/>
                </a:solidFill>
                <a:latin typeface="Consolas"/>
              </a:rPr>
              <a:t> n.nspname = </a:t>
            </a:r>
            <a:r>
              <a:rPr sz="1000">
                <a:solidFill>
                  <a:srgbClr val="9BE388"/>
                </a:solidFill>
                <a:latin typeface="Consolas"/>
              </a:rPr>
              <a:t>'public'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c.relname = split_part(obj.object_identity,</a:t>
            </a:r>
            <a:r>
              <a:rPr sz="1000">
                <a:solidFill>
                  <a:srgbClr val="9BE388"/>
                </a:solidFill>
                <a:latin typeface="Consolas"/>
              </a:rPr>
              <a:t>'.'</a:t>
            </a:r>
            <a:r>
              <a:rPr sz="1000">
                <a:solidFill>
                  <a:srgbClr val="FFFFFF"/>
                </a:solidFill>
                <a:latin typeface="Consolas"/>
              </a:rPr>
              <a:t>,2)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c.relrowsecurity = true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) </a:t>
            </a:r>
            <a:r>
              <a:rPr sz="1000">
                <a:solidFill>
                  <a:srgbClr val="F5C142"/>
                </a:solidFill>
                <a:latin typeface="Consolas"/>
              </a:rPr>
              <a:t>then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raise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exception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</a:t>
            </a:r>
            <a:r>
              <a:rPr sz="1000">
                <a:solidFill>
                  <a:srgbClr val="9BE388"/>
                </a:solidFill>
                <a:latin typeface="Consolas"/>
              </a:rPr>
              <a:t>'AUTH-04: table %s was created without RLS'</a:t>
            </a:r>
            <a:r>
              <a:rPr sz="100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obj.object_identity </a:t>
            </a:r>
            <a:r>
              <a:rPr sz="1000">
                <a:solidFill>
                  <a:srgbClr val="F5C142"/>
                </a:solidFill>
                <a:latin typeface="Consolas"/>
              </a:rPr>
              <a:t>using</a:t>
            </a:r>
            <a:r>
              <a:rPr sz="1000">
                <a:solidFill>
                  <a:srgbClr val="FFFFFF"/>
                </a:solidFill>
                <a:latin typeface="Consolas"/>
              </a:rPr>
              <a:t> errcode = </a:t>
            </a:r>
            <a:r>
              <a:rPr sz="1000">
                <a:solidFill>
                  <a:srgbClr val="9BE388"/>
                </a:solidFill>
                <a:latin typeface="Consolas"/>
              </a:rPr>
              <a:t>'42501'</a:t>
            </a:r>
            <a:r>
              <a:rPr sz="10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</a:t>
            </a:r>
            <a:r>
              <a:rPr sz="1000">
                <a:solidFill>
                  <a:srgbClr val="F5C142"/>
                </a:solidFill>
                <a:latin typeface="Consolas"/>
              </a:rPr>
              <a:t>end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end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F5C142"/>
                </a:solidFill>
                <a:latin typeface="Consolas"/>
              </a:rPr>
              <a:t>end</a:t>
            </a:r>
            <a:r>
              <a:rPr sz="1000">
                <a:solidFill>
                  <a:srgbClr val="FFFFFF"/>
                </a:solidFill>
                <a:latin typeface="Consolas"/>
              </a:rPr>
              <a:t> loop;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end</a:t>
            </a:r>
            <a:r>
              <a:rPr sz="1000">
                <a:solidFill>
                  <a:srgbClr val="FFFFFF"/>
                </a:solidFill>
                <a:latin typeface="Consolas"/>
              </a:rPr>
              <a:t>; $$;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01 — Base de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2 — JWT enrichi à la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migration 0006 — Auth Hook PL/pgSQL injecte le rôle dans le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5C142"/>
                </a:solidFill>
                <a:latin typeface="Consolas"/>
              </a:rPr>
              <a:t>Pourquoi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Sans claim → chaque policy RLS doit faire SELECT role FROM profiles (1 lookup/évaluation).  Avec claim → coût ZÉRO côté policy.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7772400" cy="425196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194560"/>
            <a:ext cx="75529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db/migrations/0006_auth02_jwt_role_hook.sql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441448"/>
            <a:ext cx="7552944" cy="394106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create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or</a:t>
            </a:r>
            <a:r>
              <a:rPr sz="1000">
                <a:solidFill>
                  <a:srgbClr val="FFFFFF"/>
                </a:solidFill>
                <a:latin typeface="Consolas"/>
              </a:rPr>
              <a:t> replace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public.custom_access_token_hook(</a:t>
            </a:r>
            <a:r>
              <a:rPr sz="1000">
                <a:solidFill>
                  <a:srgbClr val="F5C142"/>
                </a:solidFill>
                <a:latin typeface="Consolas"/>
              </a:rPr>
              <a:t>event</a:t>
            </a:r>
            <a:r>
              <a:rPr sz="1000">
                <a:solidFill>
                  <a:srgbClr val="FFFFFF"/>
                </a:solidFill>
                <a:latin typeface="Consolas"/>
              </a:rPr>
              <a:t> jsonb)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returns</a:t>
            </a:r>
            <a:r>
              <a:rPr sz="1000">
                <a:solidFill>
                  <a:srgbClr val="FFFFFF"/>
                </a:solidFill>
                <a:latin typeface="Consolas"/>
              </a:rPr>
              <a:t> jsonb </a:t>
            </a:r>
            <a:r>
              <a:rPr sz="1000">
                <a:solidFill>
                  <a:srgbClr val="F5C142"/>
                </a:solidFill>
                <a:latin typeface="Consolas"/>
              </a:rPr>
              <a:t>language</a:t>
            </a:r>
            <a:r>
              <a:rPr sz="1000">
                <a:solidFill>
                  <a:srgbClr val="FFFFFF"/>
                </a:solidFill>
                <a:latin typeface="Consolas"/>
              </a:rPr>
              <a:t> plpgsql </a:t>
            </a:r>
            <a:r>
              <a:rPr sz="1000">
                <a:solidFill>
                  <a:srgbClr val="F5C142"/>
                </a:solidFill>
                <a:latin typeface="Consolas"/>
              </a:rPr>
              <a:t>security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definer</a:t>
            </a:r>
            <a:r>
              <a:rPr sz="1000">
                <a:solidFill>
                  <a:srgbClr val="FFFFFF"/>
                </a:solidFill>
                <a:latin typeface="Consolas"/>
              </a:rPr>
              <a:t> stable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set search_path = public, pg_temp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as</a:t>
            </a:r>
            <a:r>
              <a:rPr sz="1000">
                <a:solidFill>
                  <a:srgbClr val="FFFFFF"/>
                </a:solidFill>
                <a:latin typeface="Consolas"/>
              </a:rPr>
              <a:t> $$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declare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uid           uuid;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resolved_role text;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new_claims    jsonb;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begin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uid := (event-&gt;&gt;</a:t>
            </a:r>
            <a:r>
              <a:rPr sz="1000">
                <a:solidFill>
                  <a:srgbClr val="9BE388"/>
                </a:solidFill>
                <a:latin typeface="Consolas"/>
              </a:rPr>
              <a:t>'user_id'</a:t>
            </a:r>
            <a:r>
              <a:rPr sz="1000">
                <a:solidFill>
                  <a:srgbClr val="FFFFFF"/>
                </a:solidFill>
                <a:latin typeface="Consolas"/>
              </a:rPr>
              <a:t>)::uuid;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  <a:r>
              <a:rPr sz="1000">
                <a:solidFill>
                  <a:srgbClr val="FFFFFF"/>
                </a:solidFill>
                <a:latin typeface="Consolas"/>
              </a:rPr>
              <a:t> role::text into resolved_role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public.profiles </a:t>
            </a:r>
            <a:r>
              <a:rPr sz="1000">
                <a:solidFill>
                  <a:srgbClr val="F5C142"/>
                </a:solidFill>
                <a:latin typeface="Consolas"/>
              </a:rPr>
              <a:t>where</a:t>
            </a:r>
            <a:r>
              <a:rPr sz="1000">
                <a:solidFill>
                  <a:srgbClr val="FFFFFF"/>
                </a:solidFill>
                <a:latin typeface="Consolas"/>
              </a:rPr>
              <a:t> id = uid;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 resolved_role is null </a:t>
            </a:r>
            <a:r>
              <a:rPr sz="1000">
                <a:solidFill>
                  <a:srgbClr val="F5C142"/>
                </a:solidFill>
                <a:latin typeface="Consolas"/>
              </a:rPr>
              <a:t>then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return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event</a:t>
            </a:r>
            <a:r>
              <a:rPr sz="1000">
                <a:solidFill>
                  <a:srgbClr val="FFFFFF"/>
                </a:solidFill>
                <a:latin typeface="Consolas"/>
              </a:rPr>
              <a:t>;             -- défensif : pas de profil → token brut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end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new_claims := coalesce(event-&gt;</a:t>
            </a:r>
            <a:r>
              <a:rPr sz="1000">
                <a:solidFill>
                  <a:srgbClr val="9BE388"/>
                </a:solidFill>
                <a:latin typeface="Consolas"/>
              </a:rPr>
              <a:t>'claims'</a:t>
            </a:r>
            <a:r>
              <a:rPr sz="1000">
                <a:solidFill>
                  <a:srgbClr val="FFFFFF"/>
                </a:solidFill>
                <a:latin typeface="Consolas"/>
              </a:rPr>
              <a:t>, </a:t>
            </a:r>
            <a:r>
              <a:rPr sz="1000">
                <a:solidFill>
                  <a:srgbClr val="9BE388"/>
                </a:solidFill>
                <a:latin typeface="Consolas"/>
              </a:rPr>
              <a:t>'{}'</a:t>
            </a:r>
            <a:r>
              <a:rPr sz="1000">
                <a:solidFill>
                  <a:srgbClr val="FFFFFF"/>
                </a:solidFill>
                <a:latin typeface="Consolas"/>
              </a:rPr>
              <a:t>::jsonb)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  || jsonb_build_object(</a:t>
            </a:r>
            <a:r>
              <a:rPr sz="1000">
                <a:solidFill>
                  <a:srgbClr val="9BE388"/>
                </a:solidFill>
                <a:latin typeface="Consolas"/>
              </a:rPr>
              <a:t>'user_role'</a:t>
            </a:r>
            <a:r>
              <a:rPr sz="1000">
                <a:solidFill>
                  <a:srgbClr val="FFFFFF"/>
                </a:solidFill>
                <a:latin typeface="Consolas"/>
              </a:rPr>
              <a:t>, resolved_role);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return</a:t>
            </a:r>
            <a:r>
              <a:rPr sz="1000">
                <a:solidFill>
                  <a:srgbClr val="FFFFFF"/>
                </a:solidFill>
                <a:latin typeface="Consolas"/>
              </a:rPr>
              <a:t> jsonb_set(</a:t>
            </a:r>
            <a:r>
              <a:rPr sz="1000">
                <a:solidFill>
                  <a:srgbClr val="F5C142"/>
                </a:solidFill>
                <a:latin typeface="Consolas"/>
              </a:rPr>
              <a:t>event</a:t>
            </a:r>
            <a:r>
              <a:rPr sz="1000">
                <a:solidFill>
                  <a:srgbClr val="FFFFFF"/>
                </a:solidFill>
                <a:latin typeface="Consolas"/>
              </a:rPr>
              <a:t>, </a:t>
            </a:r>
            <a:r>
              <a:rPr sz="1000">
                <a:solidFill>
                  <a:srgbClr val="9BE388"/>
                </a:solidFill>
                <a:latin typeface="Consolas"/>
              </a:rPr>
              <a:t>'{claims}'</a:t>
            </a:r>
            <a:r>
              <a:rPr sz="1000">
                <a:solidFill>
                  <a:srgbClr val="FFFFFF"/>
                </a:solidFill>
                <a:latin typeface="Consolas"/>
              </a:rPr>
              <a:t>, new_claims);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end</a:t>
            </a:r>
            <a:r>
              <a:rPr sz="1000">
                <a:solidFill>
                  <a:srgbClr val="FFFFFF"/>
                </a:solidFill>
                <a:latin typeface="Consolas"/>
              </a:rPr>
              <a:t>; $$;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-- Verrouillage : seul l'admin Auth Supabase peut l'exécuter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grant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execute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public.custom_access_token_hook(jsonb)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to</a:t>
            </a:r>
            <a:r>
              <a:rPr sz="1000">
                <a:solidFill>
                  <a:srgbClr val="FFFFFF"/>
                </a:solidFill>
                <a:latin typeface="Consolas"/>
              </a:rPr>
              <a:t> supabase_auth_admin;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revoke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execute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public.custom_access_token_hook(jsonb)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public;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148840"/>
            <a:ext cx="329184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Effet observable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60604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Payload JWT après login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3017520"/>
            <a:ext cx="3017520" cy="182880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59368" y="3108960"/>
            <a:ext cx="2798064" cy="16916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9BE388"/>
                </a:solidFill>
                <a:latin typeface="Consolas"/>
              </a:rPr>
              <a:t>"sub"</a:t>
            </a:r>
            <a:r>
              <a:rPr sz="1000">
                <a:solidFill>
                  <a:srgbClr val="FFFFFF"/>
                </a:solidFill>
                <a:latin typeface="Consolas"/>
              </a:rPr>
              <a:t>: </a:t>
            </a:r>
            <a:r>
              <a:rPr sz="1000">
                <a:solidFill>
                  <a:srgbClr val="9BE388"/>
                </a:solidFill>
                <a:latin typeface="Consolas"/>
              </a:rPr>
              <a:t>"uuid-..."</a:t>
            </a:r>
            <a:r>
              <a:rPr sz="100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9BE388"/>
                </a:solidFill>
                <a:latin typeface="Consolas"/>
              </a:rPr>
              <a:t>"email"</a:t>
            </a:r>
            <a:r>
              <a:rPr sz="1000">
                <a:solidFill>
                  <a:srgbClr val="FFFFFF"/>
                </a:solidFill>
                <a:latin typeface="Consolas"/>
              </a:rPr>
              <a:t>: </a:t>
            </a:r>
            <a:r>
              <a:rPr sz="1000">
                <a:solidFill>
                  <a:srgbClr val="9BE388"/>
                </a:solidFill>
                <a:latin typeface="Consolas"/>
              </a:rPr>
              <a:t>"f@x.fr"</a:t>
            </a:r>
            <a:r>
              <a:rPr sz="100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9BE388"/>
                </a:solidFill>
                <a:latin typeface="Consolas"/>
              </a:rPr>
              <a:t>"user_role"</a:t>
            </a:r>
            <a:r>
              <a:rPr sz="1000">
                <a:solidFill>
                  <a:srgbClr val="FFFFFF"/>
                </a:solidFill>
                <a:latin typeface="Consolas"/>
              </a:rPr>
              <a:t>: </a:t>
            </a:r>
            <a:r>
              <a:rPr sz="1000">
                <a:solidFill>
                  <a:srgbClr val="9BE388"/>
                </a:solidFill>
                <a:latin typeface="Consolas"/>
              </a:rPr>
              <a:t>"FARMER"</a:t>
            </a:r>
            <a:r>
              <a:rPr sz="100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9BE388"/>
                </a:solidFill>
                <a:latin typeface="Consolas"/>
              </a:rPr>
              <a:t>"verification_status"</a:t>
            </a:r>
            <a:r>
              <a:rPr sz="100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</a:t>
            </a:r>
            <a:r>
              <a:rPr sz="1000">
                <a:solidFill>
                  <a:srgbClr val="9BE388"/>
                </a:solidFill>
                <a:latin typeface="Consolas"/>
              </a:rPr>
              <a:t>"VERIFIED"</a:t>
            </a:r>
            <a:r>
              <a:rPr sz="100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</a:t>
            </a:r>
            <a:r>
              <a:rPr sz="1000">
                <a:solidFill>
                  <a:srgbClr val="9BE388"/>
                </a:solidFill>
                <a:latin typeface="Consolas"/>
              </a:rPr>
              <a:t>"exp"</a:t>
            </a:r>
            <a:r>
              <a:rPr sz="1000">
                <a:solidFill>
                  <a:srgbClr val="FFFFFF"/>
                </a:solidFill>
                <a:latin typeface="Consolas"/>
              </a:rPr>
              <a:t>: 1748...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983480"/>
            <a:ext cx="310896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onsolas"/>
              </a:rPr>
              <a:t>→ Policy RLS :</a:t>
            </a:r>
          </a:p>
          <a:p>
            <a:pPr algn="l"/>
            <a:r>
              <a:rPr sz="1000" b="0" i="0">
                <a:solidFill>
                  <a:srgbClr val="55606B"/>
                </a:solidFill>
                <a:latin typeface="Consolas"/>
              </a:rPr>
              <a:t>   USING (has_role('FARMER')</a:t>
            </a:r>
          </a:p>
          <a:p>
            <a:pPr algn="l"/>
            <a:r>
              <a:rPr sz="1000" b="0" i="0">
                <a:solidFill>
                  <a:srgbClr val="55606B"/>
                </a:solidFill>
                <a:latin typeface="Consolas"/>
              </a:rPr>
              <a:t>     AND auth.uid() = farmer_id)</a:t>
            </a:r>
          </a:p>
          <a:p>
            <a:pPr algn="l"/>
            <a:endParaRPr sz="1000" b="0" i="0">
              <a:solidFill>
                <a:srgbClr val="55606B"/>
              </a:solidFill>
              <a:latin typeface="Consolas"/>
            </a:endParaRPr>
          </a:p>
          <a:p>
            <a:pPr algn="l"/>
            <a:r>
              <a:rPr sz="1000" b="0" i="0">
                <a:solidFill>
                  <a:srgbClr val="55606B"/>
                </a:solidFill>
                <a:latin typeface="Consolas"/>
              </a:rPr>
              <a:t>Zéro round-trip SQL</a:t>
            </a:r>
          </a:p>
          <a:p>
            <a:pPr algn="l"/>
            <a:r>
              <a:rPr sz="1000" b="0" i="0">
                <a:solidFill>
                  <a:srgbClr val="55606B"/>
                </a:solidFill>
                <a:latin typeface="Consolas"/>
              </a:rPr>
              <a:t>supplémentaire.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01 — Base de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Flux temps réel &amp; anonymisation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LISTEN/NOTIFY + projection view pour la RGPD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① Pipeline télémétrie temps réel (Katara)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103120" cy="1188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103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POST /ingest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60320" y="1993392"/>
            <a:ext cx="182880" cy="41148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1600200"/>
            <a:ext cx="2103120" cy="11887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69164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03120"/>
            <a:ext cx="2103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RPC SECURITY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DEFINER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1993392"/>
            <a:ext cx="182880" cy="41148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1600200"/>
            <a:ext cx="210312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169164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103120"/>
            <a:ext cx="2103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INSERT +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NOTIFY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32320" y="1993392"/>
            <a:ext cx="182880" cy="41148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1600200"/>
            <a:ext cx="2103120" cy="118872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169164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03120"/>
            <a:ext cx="2103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LISTEN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asyncpg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18320" y="1993392"/>
            <a:ext cx="182880" cy="41148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1600200"/>
            <a:ext cx="2103120" cy="118872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169164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103120"/>
            <a:ext cx="2103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outbox →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Brevo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5606B"/>
                </a:solidFill>
                <a:latin typeface="Calibri"/>
              </a:rPr>
              <a:t>Latence mesurée : &lt; 100 ms entre INSERT et déclenchement worker (vs 1-5s en polling).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② Anonymisation FarMarket (BR-F5)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86200"/>
            <a:ext cx="54864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886200"/>
            <a:ext cx="109728" cy="246888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977639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Contrainte métier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Le farmer ne doit PAS voir l'identité du restaurant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Mais doit pouvoir traiter ses items de commande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Solution : table orders SANS policy SELECT pour farmers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+ vue v_farmer_incoming_items qui projette un opaque resto_handle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86200"/>
            <a:ext cx="5486400" cy="24688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3931920"/>
            <a:ext cx="52669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vue avec hash SHA-256 du couple (resto, farmer)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178808"/>
            <a:ext cx="5266944" cy="21579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create</a:t>
            </a:r>
            <a:r>
              <a:rPr sz="1000">
                <a:solidFill>
                  <a:srgbClr val="FFFFFF"/>
                </a:solidFill>
                <a:latin typeface="Consolas"/>
              </a:rPr>
              <a:t> view v_farmer_incoming_items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with</a:t>
            </a:r>
            <a:r>
              <a:rPr sz="1000">
                <a:solidFill>
                  <a:srgbClr val="FFFFFF"/>
                </a:solidFill>
                <a:latin typeface="Consolas"/>
              </a:rPr>
              <a:t> (security_invoker = true) </a:t>
            </a:r>
            <a:r>
              <a:rPr sz="1000">
                <a:solidFill>
                  <a:srgbClr val="F5C142"/>
                </a:solidFill>
                <a:latin typeface="Consolas"/>
              </a:rPr>
              <a:t>as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oi.id, oi.order_id, oi.product_name,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oi.quantity, oi.line_total_mad,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encode(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digest(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o.restaurant_id::text || </a:t>
            </a:r>
            <a:r>
              <a:rPr sz="1000">
                <a:solidFill>
                  <a:srgbClr val="9BE388"/>
                </a:solidFill>
                <a:latin typeface="Consolas"/>
              </a:rPr>
              <a:t>':'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|| oi.farmer_id::text,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'sha256'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9BE388"/>
                </a:solidFill>
                <a:latin typeface="Consolas"/>
              </a:rPr>
              <a:t>'hex'</a:t>
            </a:r>
            <a:r>
              <a:rPr sz="1000">
                <a:solidFill>
                  <a:srgbClr val="FFFFFF"/>
                </a:solidFill>
                <a:latin typeface="Consolas"/>
              </a:rPr>
              <a:t>) </a:t>
            </a:r>
            <a:r>
              <a:rPr sz="1000">
                <a:solidFill>
                  <a:srgbClr val="F5C142"/>
                </a:solidFill>
                <a:latin typeface="Consolas"/>
              </a:rPr>
              <a:t>as</a:t>
            </a:r>
            <a:r>
              <a:rPr sz="1000">
                <a:solidFill>
                  <a:srgbClr val="FFFFFF"/>
                </a:solidFill>
                <a:latin typeface="Consolas"/>
              </a:rPr>
              <a:t> resto_handle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m2_farmarket_order_items oi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join</a:t>
            </a:r>
            <a:r>
              <a:rPr sz="1000">
                <a:solidFill>
                  <a:srgbClr val="FFFFFF"/>
                </a:solidFill>
                <a:latin typeface="Consolas"/>
              </a:rPr>
              <a:t> m2_farmarket_orders o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o.id = oi.order_id;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01 — Base de données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7432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0" b="1" i="0">
                <a:solidFill>
                  <a:srgbClr val="00B8A9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94560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Backend &amp;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46120"/>
            <a:ext cx="8229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1">
                <a:solidFill>
                  <a:srgbClr val="F5C142"/>
                </a:solidFill>
                <a:latin typeface="Calibri"/>
              </a:rPr>
              <a:t>FastAPI + 7 workers asynchrones  |  Next.js 15 / 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 programme de cette section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Backend FastAPI — 16 routers, 7 workers asynchrones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1888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3 — Endpoint d'ingestion télémétrie &lt; 50 ms (hot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11496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4 — Pipeline diagnostic IA Gemini (orchestrator séquentiel)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Frontend Next.js 15 — App Router, SSR, RSC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9671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5 — Middleware d'auth + gate de vérification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Communication Front ↔ Back — 2 canaux complémentaires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Backend —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16 routers REST + 7 workers asynchrones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Stack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4592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459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0.115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9842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Pydantic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98424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validation stricte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322576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supabase-py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322576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client PostgREST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60904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asyncpg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66090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LISTEN/NOTIFY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99232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PyJWT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99923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vérif JWT HS256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3756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bcrypt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33756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hash clés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Jinja2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67588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autoescape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014216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google-genai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014216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Gemini 1.5 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52544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tifffile/numpy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3525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NDVI Sentinel-2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90872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structlog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69087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logs 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0292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sentry-sdk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0292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erreurs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3675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orjson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36752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JSON rapide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705856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0B8A9"/>
                </a:solidFill>
                <a:latin typeface="Consolas"/>
              </a:rPr>
              <a:t>gunicorn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705856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+ uvicorn workers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1188720"/>
            <a:ext cx="3657600" cy="3657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0" y="123444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Routers FastAPI (16)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164592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/api/v1/health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1929384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/api/v1/kyc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2212848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/api/v1/admin/kyc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249631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/api/v1/admin/farmarket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2779776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/api/v1/katara/parcels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306324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/api/v1/katara/parcels/.../devices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3346704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/api/v1/katara/devices/.../unlink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3630168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/api/v1/katara/ingest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39136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/api/v1/katara/telemetry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4197096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/api/v1/katara/devices/.../history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44805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/api/v1/katara/thresholds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4764024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/api/v1/katara/diagnostics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5047488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/api/v1/katara/overview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533095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/api/v1/farmarket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5614416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/api/v1/secondserve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4840" y="589788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Consolas"/>
              </a:rPr>
              <a:t>› /api/v1/notifications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1188720"/>
            <a:ext cx="35661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38160" y="1188720"/>
            <a:ext cx="3566160" cy="36576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38160" y="1234440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Workers asynchrones (7)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169164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katara_threshold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198424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LISTEN télémétrie → alertes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233172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katara_offline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262432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détection silence &gt; 1h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297180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katara_diagnostic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26440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Gemini + OWM + NDVI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361188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katara_diagnostic_email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390448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Markdown → HTML → email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425196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farmarket_expiry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454456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expire ads périmées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489204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farmarket_order_notify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518464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transitions commande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553212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notifications_mailer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582472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5606B"/>
                </a:solidFill>
                <a:latin typeface="Calibri"/>
              </a:rPr>
              <a:t>outbox → Brevo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612648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5606B"/>
                </a:solidFill>
                <a:latin typeface="Calibri"/>
              </a:rPr>
              <a:t>→ Process séparés, scalables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02 — Backend &amp; Frontend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3 — Endpoint d'ingestion télémétrie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SLA : &lt; 50 ms p50, &lt; 150 ms p99 — un seul round-trip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7315200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34440"/>
            <a:ext cx="70957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backend/app/modules/katara/ingest.py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7095744" cy="4901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@router.post(</a:t>
            </a:r>
            <a:r>
              <a:rPr sz="1000">
                <a:solidFill>
                  <a:srgbClr val="9BE388"/>
                </a:solidFill>
                <a:latin typeface="Consolas"/>
              </a:rPr>
              <a:t>''</a:t>
            </a:r>
            <a:r>
              <a:rPr sz="1000">
                <a:solidFill>
                  <a:srgbClr val="FFFFFF"/>
                </a:solidFill>
                <a:latin typeface="Consolas"/>
              </a:rPr>
              <a:t>, status_code=204, response_class=Response)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async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def</a:t>
            </a:r>
            <a:r>
              <a:rPr sz="1000">
                <a:solidFill>
                  <a:srgbClr val="FFFFFF"/>
                </a:solidFill>
                <a:latin typeface="Consolas"/>
              </a:rPr>
              <a:t> ingest_telemetry(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payload: TelemetryPayload,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db: Annotated[Client, Depends(_ingest_db)],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x_device_id: str | None = Header(default=None),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x_device_api_key: str | None = Header(default=None),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) -&gt; Response: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not</a:t>
            </a:r>
            <a:r>
              <a:rPr sz="1000">
                <a:solidFill>
                  <a:srgbClr val="FFFFFF"/>
                </a:solidFill>
                <a:latin typeface="Consolas"/>
              </a:rPr>
              <a:t> x_device_id </a:t>
            </a:r>
            <a:r>
              <a:rPr sz="1000">
                <a:solidFill>
                  <a:srgbClr val="F5C142"/>
                </a:solidFill>
                <a:latin typeface="Consolas"/>
              </a:rPr>
              <a:t>or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not</a:t>
            </a:r>
            <a:r>
              <a:rPr sz="1000">
                <a:solidFill>
                  <a:srgbClr val="FFFFFF"/>
                </a:solidFill>
                <a:latin typeface="Consolas"/>
              </a:rPr>
              <a:t> x_device_api_key: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raise</a:t>
            </a:r>
            <a:r>
              <a:rPr sz="1000">
                <a:solidFill>
                  <a:srgbClr val="FFFFFF"/>
                </a:solidFill>
                <a:latin typeface="Consolas"/>
              </a:rPr>
              <a:t> HTTPException(401, detail=_INVALID_CREDS)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# Un seul appel DB 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# verify_bcrypt + insert + touch device + NOTIFY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res = db.rpc(</a:t>
            </a:r>
            <a:r>
              <a:rPr sz="1000">
                <a:solidFill>
                  <a:srgbClr val="9BE388"/>
                </a:solidFill>
                <a:latin typeface="Consolas"/>
              </a:rPr>
              <a:t>'m1_katara_ingest'</a:t>
            </a:r>
            <a:r>
              <a:rPr sz="1000">
                <a:solidFill>
                  <a:srgbClr val="FFFFFF"/>
                </a:solidFill>
                <a:latin typeface="Consolas"/>
              </a:rPr>
              <a:t>, {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'p_device_id_str'</a:t>
            </a:r>
            <a:r>
              <a:rPr sz="1000">
                <a:solidFill>
                  <a:srgbClr val="FFFFFF"/>
                </a:solidFill>
                <a:latin typeface="Consolas"/>
              </a:rPr>
              <a:t>:     x_device_id,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'p_api_key'</a:t>
            </a:r>
            <a:r>
              <a:rPr sz="1000">
                <a:solidFill>
                  <a:srgbClr val="FFFFFF"/>
                </a:solidFill>
                <a:latin typeface="Consolas"/>
              </a:rPr>
              <a:t>:           x_device_api_key,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'p_soil_moisture'</a:t>
            </a:r>
            <a:r>
              <a:rPr sz="1000">
                <a:solidFill>
                  <a:srgbClr val="FFFFFF"/>
                </a:solidFill>
                <a:latin typeface="Consolas"/>
              </a:rPr>
              <a:t>:     payload.soil_moisture,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'p_soil_temperature'</a:t>
            </a:r>
            <a:r>
              <a:rPr sz="1000">
                <a:solidFill>
                  <a:srgbClr val="FFFFFF"/>
                </a:solidFill>
                <a:latin typeface="Consolas"/>
              </a:rPr>
              <a:t>:  payload.soil_temperature,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'p_soil_ph'</a:t>
            </a:r>
            <a:r>
              <a:rPr sz="1000">
                <a:solidFill>
                  <a:srgbClr val="FFFFFF"/>
                </a:solidFill>
                <a:latin typeface="Consolas"/>
              </a:rPr>
              <a:t>:           payload.soil_ph,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'p_soil_conductivity'</a:t>
            </a:r>
            <a:r>
              <a:rPr sz="1000">
                <a:solidFill>
                  <a:srgbClr val="FFFFFF"/>
                </a:solidFill>
                <a:latin typeface="Consolas"/>
              </a:rPr>
              <a:t>: payload.soil_conductivity,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'p_battery_level'</a:t>
            </a:r>
            <a:r>
              <a:rPr sz="1000">
                <a:solidFill>
                  <a:srgbClr val="FFFFFF"/>
                </a:solidFill>
                <a:latin typeface="Consolas"/>
              </a:rPr>
              <a:t>:     payload.battery_level,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9BE388"/>
                </a:solidFill>
                <a:latin typeface="Consolas"/>
              </a:rPr>
              <a:t>'p_recorded_at'</a:t>
            </a:r>
            <a:r>
              <a:rPr sz="1000">
                <a:solidFill>
                  <a:srgbClr val="FFFFFF"/>
                </a:solidFill>
                <a:latin typeface="Consolas"/>
              </a:rPr>
              <a:t>:       payload.recorded_at.isoformat(),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}).execute()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if</a:t>
            </a:r>
            <a:r>
              <a:rPr sz="1000">
                <a:solidFill>
                  <a:srgbClr val="FFFFFF"/>
                </a:solidFill>
                <a:latin typeface="Consolas"/>
              </a:rPr>
              <a:t> res.data </a:t>
            </a:r>
            <a:r>
              <a:rPr sz="1000">
                <a:solidFill>
                  <a:srgbClr val="F5C142"/>
                </a:solidFill>
                <a:latin typeface="Consolas"/>
              </a:rPr>
              <a:t>is</a:t>
            </a:r>
            <a:r>
              <a:rPr sz="1000">
                <a:solidFill>
                  <a:srgbClr val="FFFFFF"/>
                </a:solidFill>
                <a:latin typeface="Consolas"/>
              </a:rPr>
              <a:t> None: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 # Constant-time error : ne dit pas LEQUEL des deux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 # (device_id ou api_key) est faux → anti-énumération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raise</a:t>
            </a:r>
            <a:r>
              <a:rPr sz="1000">
                <a:solidFill>
                  <a:srgbClr val="FFFFFF"/>
                </a:solidFill>
                <a:latin typeface="Consolas"/>
              </a:rPr>
              <a:t> HTTPException(401, detail=_INVALID_CREDS)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return</a:t>
            </a:r>
            <a:r>
              <a:rPr sz="1000">
                <a:solidFill>
                  <a:srgbClr val="FFFFFF"/>
                </a:solidFill>
                <a:latin typeface="Consolas"/>
              </a:rPr>
              <a:t> Response(status_code=204,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headers={</a:t>
            </a:r>
            <a:r>
              <a:rPr sz="1000">
                <a:solidFill>
                  <a:srgbClr val="9BE388"/>
                </a:solidFill>
                <a:latin typeface="Consolas"/>
              </a:rPr>
              <a:t>'X-Telemetry-Id'</a:t>
            </a:r>
            <a:r>
              <a:rPr sz="1000">
                <a:solidFill>
                  <a:srgbClr val="FFFFFF"/>
                </a:solidFill>
                <a:latin typeface="Consolas"/>
              </a:rPr>
              <a:t>: str(res.data)})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188720"/>
            <a:ext cx="109728" cy="52120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2801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Décisions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6916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Auth par device, pas par user (pas de JWT)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Service-role client : seul autorisé à INSERT (RLS FORCE)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RPC SQL bundlant tout → 1 round-trip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204 No Content : ESP32 ne lit pas le body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Headers X-Device-Id / X-Device-Api-Key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1148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Sécurité défensive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480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_INVALID_CREDS constant → pas d'énumération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Bcrypt verify côté SQL (constant-time pgcrypto)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Callsite ajouté à l'allowlist service_role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Rate limit NGINX en amont (AUTH-08)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02 — Backend &amp;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4 — Pipeline diagnostic IA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Orchestrator séquentiel — taxonomie d'erreurs explicite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Pipeline KAT-08 — 6 étapes, FAILED précis à chaque échec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783080" cy="1188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1783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FOR UPDATE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SKIP LOCKED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40280" y="1965960"/>
            <a:ext cx="137160" cy="45720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" y="1600200"/>
            <a:ext cx="1783080" cy="11887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169164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OWM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103120"/>
            <a:ext cx="1783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Météo 24h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lat/lng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60520" y="1965960"/>
            <a:ext cx="137160" cy="45720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1600200"/>
            <a:ext cx="1783080" cy="118872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69164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NDVI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103120"/>
            <a:ext cx="1783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Sentinel-2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TIFF float32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80760" y="1965960"/>
            <a:ext cx="137160" cy="45720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600200"/>
            <a:ext cx="178308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69164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Aggregate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103120"/>
            <a:ext cx="1783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Moy. 7j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télémétrie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01000" y="1965960"/>
            <a:ext cx="137160" cy="45720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1600200"/>
            <a:ext cx="1783080" cy="118872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169164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03120"/>
            <a:ext cx="1783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Jinja2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autoescape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921240" y="1965960"/>
            <a:ext cx="137160" cy="457200"/>
          </a:xfrm>
          <a:prstGeom prst="right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58400" y="1600200"/>
            <a:ext cx="1783080" cy="1188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0" y="169164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103120"/>
            <a:ext cx="1783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1.5 Flash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streaming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17520"/>
            <a:ext cx="6858000" cy="33832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063240"/>
            <a:ext cx="66385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workers/katara_diagnostic/orchestrator.py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10128"/>
            <a:ext cx="6638544" cy="3072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>
                <a:solidFill>
                  <a:srgbClr val="7A8797"/>
                </a:solidFill>
                <a:latin typeface="Consolas"/>
              </a:rPr>
              <a:t># Chaque étape est try/except indépendant → FAILED précis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try</a:t>
            </a:r>
            <a:r>
              <a:rPr sz="90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owm = </a:t>
            </a:r>
            <a:r>
              <a:rPr sz="900">
                <a:solidFill>
                  <a:srgbClr val="F5C142"/>
                </a:solidFill>
                <a:latin typeface="Consolas"/>
              </a:rPr>
              <a:t>await</a:t>
            </a:r>
            <a:r>
              <a:rPr sz="900">
                <a:solidFill>
                  <a:srgbClr val="FFFFFF"/>
                </a:solidFill>
                <a:latin typeface="Consolas"/>
              </a:rPr>
              <a:t> asyncio.to_thread(fetch_weather, lat, lng)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except</a:t>
            </a:r>
            <a:r>
              <a:rPr sz="900">
                <a:solidFill>
                  <a:srgbClr val="FFFFFF"/>
                </a:solidFill>
                <a:latin typeface="Consolas"/>
              </a:rPr>
              <a:t> Exception </a:t>
            </a:r>
            <a:r>
              <a:rPr sz="900">
                <a:solidFill>
                  <a:srgbClr val="F5C142"/>
                </a:solidFill>
                <a:latin typeface="Consolas"/>
              </a:rPr>
              <a:t>as</a:t>
            </a:r>
            <a:r>
              <a:rPr sz="900">
                <a:solidFill>
                  <a:srgbClr val="FFFFFF"/>
                </a:solidFill>
                <a:latin typeface="Consolas"/>
              </a:rPr>
              <a:t> exc: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mark_failed(diag_id, f</a:t>
            </a:r>
            <a:r>
              <a:rPr sz="900">
                <a:solidFill>
                  <a:srgbClr val="9BE388"/>
                </a:solidFill>
                <a:latin typeface="Consolas"/>
              </a:rPr>
              <a:t>'owm_unavailable: {exc!r}'</a:t>
            </a:r>
            <a:r>
              <a:rPr sz="9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return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5C142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try</a:t>
            </a:r>
            <a:r>
              <a:rPr sz="90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ndvi = </a:t>
            </a:r>
            <a:r>
              <a:rPr sz="900">
                <a:solidFill>
                  <a:srgbClr val="F5C142"/>
                </a:solidFill>
                <a:latin typeface="Consolas"/>
              </a:rPr>
              <a:t>await</a:t>
            </a:r>
            <a:r>
              <a:rPr sz="900">
                <a:solidFill>
                  <a:srgbClr val="FFFFFF"/>
                </a:solidFill>
                <a:latin typeface="Consolas"/>
              </a:rPr>
              <a:t> asyncio.to_thread(fetch_ndvi, parcel_id, geojson)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except</a:t>
            </a:r>
            <a:r>
              <a:rPr sz="900">
                <a:solidFill>
                  <a:srgbClr val="FFFFFF"/>
                </a:solidFill>
                <a:latin typeface="Consolas"/>
              </a:rPr>
              <a:t> Exception </a:t>
            </a:r>
            <a:r>
              <a:rPr sz="900">
                <a:solidFill>
                  <a:srgbClr val="F5C142"/>
                </a:solidFill>
                <a:latin typeface="Consolas"/>
              </a:rPr>
              <a:t>as</a:t>
            </a:r>
            <a:r>
              <a:rPr sz="900">
                <a:solidFill>
                  <a:srgbClr val="FFFFFF"/>
                </a:solidFill>
                <a:latin typeface="Consolas"/>
              </a:rPr>
              <a:t> exc: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mark_failed(diag_id, f</a:t>
            </a:r>
            <a:r>
              <a:rPr sz="900">
                <a:solidFill>
                  <a:srgbClr val="9BE388"/>
                </a:solidFill>
                <a:latin typeface="Consolas"/>
              </a:rPr>
              <a:t>'ndvi_unavailable: {exc!r}'</a:t>
            </a:r>
            <a:r>
              <a:rPr sz="9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return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5C142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7A8797"/>
                </a:solidFill>
                <a:latin typeface="Consolas"/>
              </a:rPr>
              <a:t># ... agrégat 7j, build prompt, appel Gemini ...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7A8797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try</a:t>
            </a:r>
            <a:r>
              <a:rPr sz="90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result_text = </a:t>
            </a:r>
            <a:r>
              <a:rPr sz="900">
                <a:solidFill>
                  <a:srgbClr val="F5C142"/>
                </a:solidFill>
                <a:latin typeface="Consolas"/>
              </a:rPr>
              <a:t>await</a:t>
            </a:r>
            <a:r>
              <a:rPr sz="900">
                <a:solidFill>
                  <a:srgbClr val="FFFFFF"/>
                </a:solidFill>
                <a:latin typeface="Consolas"/>
              </a:rPr>
              <a:t> call_gemini(prompt)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except</a:t>
            </a:r>
            <a:r>
              <a:rPr sz="900">
                <a:solidFill>
                  <a:srgbClr val="FFFFFF"/>
                </a:solidFill>
                <a:latin typeface="Consolas"/>
              </a:rPr>
              <a:t> GeminiRateLimited </a:t>
            </a:r>
            <a:r>
              <a:rPr sz="900">
                <a:solidFill>
                  <a:srgbClr val="F5C142"/>
                </a:solidFill>
                <a:latin typeface="Consolas"/>
              </a:rPr>
              <a:t>as</a:t>
            </a:r>
            <a:r>
              <a:rPr sz="900">
                <a:solidFill>
                  <a:srgbClr val="FFFFFF"/>
                </a:solidFill>
                <a:latin typeface="Consolas"/>
              </a:rPr>
              <a:t> exc: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mark_failed(diag_id, f</a:t>
            </a:r>
            <a:r>
              <a:rPr sz="900">
                <a:solidFill>
                  <a:srgbClr val="9BE388"/>
                </a:solidFill>
                <a:latin typeface="Consolas"/>
              </a:rPr>
              <a:t>'gemini_rate_limited: {exc!r}'</a:t>
            </a:r>
            <a:r>
              <a:rPr sz="9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except</a:t>
            </a:r>
            <a:r>
              <a:rPr sz="900">
                <a:solidFill>
                  <a:srgbClr val="FFFFFF"/>
                </a:solidFill>
                <a:latin typeface="Consolas"/>
              </a:rPr>
              <a:t> GeminiUnavailable </a:t>
            </a:r>
            <a:r>
              <a:rPr sz="900">
                <a:solidFill>
                  <a:srgbClr val="F5C142"/>
                </a:solidFill>
                <a:latin typeface="Consolas"/>
              </a:rPr>
              <a:t>as</a:t>
            </a:r>
            <a:r>
              <a:rPr sz="900">
                <a:solidFill>
                  <a:srgbClr val="FFFFFF"/>
                </a:solidFill>
                <a:latin typeface="Consolas"/>
              </a:rPr>
              <a:t> exc: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mark_failed(diag_id, f</a:t>
            </a:r>
            <a:r>
              <a:rPr sz="900">
                <a:solidFill>
                  <a:srgbClr val="9BE388"/>
                </a:solidFill>
                <a:latin typeface="Consolas"/>
              </a:rPr>
              <a:t>'gemini_unavailable: {exc!r}'</a:t>
            </a:r>
            <a:r>
              <a:rPr sz="9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mark_completed(diag_id, result_text)   # NOTIFY → email worker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017520"/>
            <a:ext cx="42062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98079" y="3017520"/>
            <a:ext cx="109728" cy="338328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310896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Pourquoi séquentiel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52044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Gemini = goulot (~5-15s)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Gain d'un asyncio.gather &lt; 100 ms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Coût : raisonnement sur les modes d'échec ↑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→ tradeoff lisibilité &gt; micro-perf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84632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Anti prompt-injection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2120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Jinja2 autoescape activé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Templates .j2 dédiés (FR/AR/EN)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Données utilisateur nettoyées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02 — Backend &amp; Frontend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Frontend — Next.js 15 / React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App Router, Server Components, Tailwind 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749039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27432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347471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9164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Next.js 15.1 (App Router)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React 19 — Server Components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TypeScript 5.7 (strict)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Tailwind v4 + PostCSS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@supabase/ssr (cookies)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Zod — validation formulaires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Leaflet — cartes parcelles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Sentry — erreurs client + 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749039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91440" cy="2743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298448"/>
            <a:ext cx="347471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9164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Middleware d'auth global (Edge)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Dashboard segmenté par rôle :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  /dashboard/farmer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  /dashboard/restaurant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  /dashboard/admin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Server Actions + RPC Supabase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Routes API minimales (/api/…)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25 pages page.tsx au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29844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Qualité &amp;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69164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Vitest + Testing Library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161 fichiers de tests frontend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ESLint (next/core-web-vitals)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Type-check CI (tsc --noEmit)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Sentry source-maps build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Dockerfile multi-stage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4300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109728" cy="2331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Écrans livrés par rôle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1371600" cy="3657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Auth (4)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57200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Login • Register • Onboarding • Vérification KYC (upload + statut)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946904"/>
            <a:ext cx="1371600" cy="3657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992624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Farmer (6)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992624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Dashboard • Parcelles (carte Leaflet GeoJSON) • Devices (pair, rotate, unlink) • Télémétrie live • Diagnostics IA • Seuils d'alerte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67528"/>
            <a:ext cx="1371600" cy="3657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413248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Restaurant (5)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413248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Catalogue FarMarket (filtres) • Détail produit • Panier • Pipeline commandes • Tracking livraison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788152"/>
            <a:ext cx="1371600" cy="3657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833872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Admin (4)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833872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Modération KYC (queue) • Gestion FarMarket • Vue système • Utilisateurs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02 — Backend &amp; 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5 — Middleware Next.js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Edge runtime — auth gate + vérification KYC par décodage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7772400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34440"/>
            <a:ext cx="75529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frontend/src/middleware.ts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7552944" cy="4901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PROTECTED_PREFIXES = [</a:t>
            </a:r>
            <a:r>
              <a:rPr sz="900">
                <a:solidFill>
                  <a:srgbClr val="9BE388"/>
                </a:solidFill>
                <a:latin typeface="Consolas"/>
              </a:rPr>
              <a:t>'/dashboard'</a:t>
            </a:r>
            <a:r>
              <a:rPr sz="900">
                <a:solidFill>
                  <a:srgbClr val="FFFFFF"/>
                </a:solidFill>
                <a:latin typeface="Consolas"/>
              </a:rPr>
              <a:t>, </a:t>
            </a:r>
            <a:r>
              <a:rPr sz="900">
                <a:solidFill>
                  <a:srgbClr val="9BE388"/>
                </a:solidFill>
                <a:latin typeface="Consolas"/>
              </a:rPr>
              <a:t>'/onboarding/verification'</a:t>
            </a:r>
            <a:r>
              <a:rPr sz="900">
                <a:solidFill>
                  <a:srgbClr val="FFFFFF"/>
                </a:solidFill>
                <a:latin typeface="Consolas"/>
              </a:rPr>
              <a:t>, </a:t>
            </a:r>
            <a:r>
              <a:rPr sz="900">
                <a:solidFill>
                  <a:srgbClr val="9BE388"/>
                </a:solidFill>
                <a:latin typeface="Consolas"/>
              </a:rPr>
              <a:t>'/admin'</a:t>
            </a:r>
            <a:r>
              <a:rPr sz="900">
                <a:solidFill>
                  <a:srgbClr val="FFFFFF"/>
                </a:solidFill>
                <a:latin typeface="Consolas"/>
              </a:rPr>
              <a:t>];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VERIFIED_PRO_PREFIXES = [</a:t>
            </a:r>
            <a:r>
              <a:rPr sz="900">
                <a:solidFill>
                  <a:srgbClr val="9BE388"/>
                </a:solidFill>
                <a:latin typeface="Consolas"/>
              </a:rPr>
              <a:t>'/farmarket/new'</a:t>
            </a:r>
            <a:r>
              <a:rPr sz="900">
                <a:solidFill>
                  <a:srgbClr val="FFFFFF"/>
                </a:solidFill>
                <a:latin typeface="Consolas"/>
              </a:rPr>
              <a:t>, </a:t>
            </a:r>
            <a:r>
              <a:rPr sz="900">
                <a:solidFill>
                  <a:srgbClr val="9BE388"/>
                </a:solidFill>
                <a:latin typeface="Consolas"/>
              </a:rPr>
              <a:t>'/secondserve/new'</a:t>
            </a:r>
            <a:r>
              <a:rPr sz="900">
                <a:solidFill>
                  <a:srgbClr val="FFFFFF"/>
                </a:solidFill>
                <a:latin typeface="Consolas"/>
              </a:rPr>
              <a:t>];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5C142"/>
                </a:solidFill>
                <a:latin typeface="Consolas"/>
              </a:rPr>
              <a:t>export</a:t>
            </a:r>
            <a:r>
              <a:rPr sz="900">
                <a:solidFill>
                  <a:srgbClr val="FFFFFF"/>
                </a:solidFill>
                <a:latin typeface="Consolas"/>
              </a:rPr>
              <a:t> </a:t>
            </a:r>
            <a:r>
              <a:rPr sz="900">
                <a:solidFill>
                  <a:srgbClr val="F5C142"/>
                </a:solidFill>
                <a:latin typeface="Consolas"/>
              </a:rPr>
              <a:t>async</a:t>
            </a:r>
            <a:r>
              <a:rPr sz="900">
                <a:solidFill>
                  <a:srgbClr val="FFFFFF"/>
                </a:solidFill>
                <a:latin typeface="Consolas"/>
              </a:rPr>
              <a:t> </a:t>
            </a:r>
            <a:r>
              <a:rPr sz="900">
                <a:solidFill>
                  <a:srgbClr val="F5C142"/>
                </a:solidFill>
                <a:latin typeface="Consolas"/>
              </a:rPr>
              <a:t>function</a:t>
            </a:r>
            <a:r>
              <a:rPr sz="900">
                <a:solidFill>
                  <a:srgbClr val="FFFFFF"/>
                </a:solidFill>
                <a:latin typeface="Consolas"/>
              </a:rPr>
              <a:t> middleware(request: NextRequest) {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let</a:t>
            </a:r>
            <a:r>
              <a:rPr sz="900">
                <a:solidFill>
                  <a:srgbClr val="FFFFFF"/>
                </a:solidFill>
                <a:latin typeface="Consolas"/>
              </a:rPr>
              <a:t> response = NextResponse.next({ request });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supabase = createServerClient(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process.env.NEXT_PUBLIC_SUPABASE_URL!,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process.env.NEXT_PUBLIC_SUPABASE_ANON_KEY!,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{ cookies: { /* ... refresh des tokens via setAll ... */ } },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);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7A8797"/>
                </a:solidFill>
                <a:latin typeface="Consolas"/>
              </a:rPr>
              <a:t>  // IMPORTANT : getUser() (et pas getSession) → revalide le cookie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{ data: { user } } = </a:t>
            </a:r>
            <a:r>
              <a:rPr sz="900">
                <a:solidFill>
                  <a:srgbClr val="F5C142"/>
                </a:solidFill>
                <a:latin typeface="Consolas"/>
              </a:rPr>
              <a:t>await</a:t>
            </a:r>
            <a:r>
              <a:rPr sz="900">
                <a:solidFill>
                  <a:srgbClr val="FFFFFF"/>
                </a:solidFill>
                <a:latin typeface="Consolas"/>
              </a:rPr>
              <a:t> supabase.auth.getUser();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{ pathname } = request.nextUrl;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7A8797"/>
                </a:solidFill>
                <a:latin typeface="Consolas"/>
              </a:rPr>
              <a:t>  // Route protégée + pas de user → /login?next=...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if</a:t>
            </a:r>
            <a:r>
              <a:rPr sz="900">
                <a:solidFill>
                  <a:srgbClr val="FFFFFF"/>
                </a:solidFill>
                <a:latin typeface="Consolas"/>
              </a:rPr>
              <a:t> (isProtected(pathname) &amp;&amp; !user) {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url = request.nextUrl.clone();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url.pathname = </a:t>
            </a:r>
            <a:r>
              <a:rPr sz="900">
                <a:solidFill>
                  <a:srgbClr val="9BE388"/>
                </a:solidFill>
                <a:latin typeface="Consolas"/>
              </a:rPr>
              <a:t>'/login'</a:t>
            </a:r>
            <a:r>
              <a:rPr sz="9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url.searchParams.set(</a:t>
            </a:r>
            <a:r>
              <a:rPr sz="900">
                <a:solidFill>
                  <a:srgbClr val="9BE388"/>
                </a:solidFill>
                <a:latin typeface="Consolas"/>
              </a:rPr>
              <a:t>'next'</a:t>
            </a:r>
            <a:r>
              <a:rPr sz="900">
                <a:solidFill>
                  <a:srgbClr val="FFFFFF"/>
                </a:solidFill>
                <a:latin typeface="Consolas"/>
              </a:rPr>
              <a:t>, pathname);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return</a:t>
            </a:r>
            <a:r>
              <a:rPr sz="900">
                <a:solidFill>
                  <a:srgbClr val="FFFFFF"/>
                </a:solidFill>
                <a:latin typeface="Consolas"/>
              </a:rPr>
              <a:t> NextResponse.redirect(url);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spcAft>
                <a:spcPts val="0"/>
              </a:spcAft>
            </a:pPr>
            <a:endParaRPr sz="9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7A8797"/>
                </a:solidFill>
                <a:latin typeface="Consolas"/>
              </a:rPr>
              <a:t>  // Route 'pro' (FarMarket/SecondServe) → exige verification VERIFIED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if</a:t>
            </a:r>
            <a:r>
              <a:rPr sz="900">
                <a:solidFill>
                  <a:srgbClr val="FFFFFF"/>
                </a:solidFill>
                <a:latin typeface="Consolas"/>
              </a:rPr>
              <a:t> (isPublishRoute(pathname) &amp;&amp; user) {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{ data: { session } } = </a:t>
            </a:r>
            <a:r>
              <a:rPr sz="900">
                <a:solidFill>
                  <a:srgbClr val="F5C142"/>
                </a:solidFill>
                <a:latin typeface="Consolas"/>
              </a:rPr>
              <a:t>await</a:t>
            </a:r>
            <a:r>
              <a:rPr sz="900">
                <a:solidFill>
                  <a:srgbClr val="FFFFFF"/>
                </a:solidFill>
                <a:latin typeface="Consolas"/>
              </a:rPr>
              <a:t> supabase.auth.getSession();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claims = decodeJwtClaims(session!.access_token);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const</a:t>
            </a:r>
            <a:r>
              <a:rPr sz="900">
                <a:solidFill>
                  <a:srgbClr val="FFFFFF"/>
                </a:solidFill>
                <a:latin typeface="Consolas"/>
              </a:rPr>
              <a:t> isPro = claims.user_role === </a:t>
            </a:r>
            <a:r>
              <a:rPr sz="900">
                <a:solidFill>
                  <a:srgbClr val="9BE388"/>
                </a:solidFill>
                <a:latin typeface="Consolas"/>
              </a:rPr>
              <a:t>'FARMER'</a:t>
            </a:r>
            <a:r>
              <a:rPr sz="900">
                <a:solidFill>
                  <a:srgbClr val="FFFFFF"/>
                </a:solidFill>
                <a:latin typeface="Consolas"/>
              </a:rPr>
              <a:t> || claims.user_role === </a:t>
            </a:r>
            <a:r>
              <a:rPr sz="900">
                <a:solidFill>
                  <a:srgbClr val="9BE388"/>
                </a:solidFill>
                <a:latin typeface="Consolas"/>
              </a:rPr>
              <a:t>'RESTAURANT'</a:t>
            </a:r>
            <a:r>
              <a:rPr sz="9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>
                <a:solidFill>
                  <a:srgbClr val="F5C142"/>
                </a:solidFill>
                <a:latin typeface="Consolas"/>
              </a:rPr>
              <a:t>if</a:t>
            </a:r>
            <a:r>
              <a:rPr sz="900">
                <a:solidFill>
                  <a:srgbClr val="FFFFFF"/>
                </a:solidFill>
                <a:latin typeface="Consolas"/>
              </a:rPr>
              <a:t> (isPro &amp;&amp; claims.verification_status !== </a:t>
            </a:r>
            <a:r>
              <a:rPr sz="900">
                <a:solidFill>
                  <a:srgbClr val="9BE388"/>
                </a:solidFill>
                <a:latin typeface="Consolas"/>
              </a:rPr>
              <a:t>'VERIFIED'</a:t>
            </a:r>
            <a:r>
              <a:rPr sz="900">
                <a:solidFill>
                  <a:srgbClr val="FFFFFF"/>
                </a:solidFill>
                <a:latin typeface="Consolas"/>
              </a:rPr>
              <a:t>) {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  </a:t>
            </a:r>
            <a:r>
              <a:rPr sz="900">
                <a:solidFill>
                  <a:srgbClr val="F5C142"/>
                </a:solidFill>
                <a:latin typeface="Consolas"/>
              </a:rPr>
              <a:t>return</a:t>
            </a:r>
            <a:r>
              <a:rPr sz="900">
                <a:solidFill>
                  <a:srgbClr val="FFFFFF"/>
                </a:solidFill>
                <a:latin typeface="Consolas"/>
              </a:rPr>
              <a:t> NextResponse.redirect(</a:t>
            </a:r>
            <a:r>
              <a:rPr sz="900">
                <a:solidFill>
                  <a:srgbClr val="9BE388"/>
                </a:solidFill>
                <a:latin typeface="Consolas"/>
              </a:rPr>
              <a:t>'/onboarding/verification'</a:t>
            </a:r>
            <a:r>
              <a:rPr sz="900">
                <a:solidFill>
                  <a:srgbClr val="FFFFFF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>
                <a:solidFill>
                  <a:srgbClr val="F5C142"/>
                </a:solidFill>
                <a:latin typeface="Consolas"/>
              </a:rPr>
              <a:t>return</a:t>
            </a:r>
            <a:r>
              <a:rPr sz="900">
                <a:solidFill>
                  <a:srgbClr val="FFFFFF"/>
                </a:solidFill>
                <a:latin typeface="Consolas"/>
              </a:rPr>
              <a:t> response;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32918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0" y="1188720"/>
            <a:ext cx="109728" cy="246888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2801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Pourquoi le middleware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6459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Tourne à l'Edge (faible latence)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Refresh cookies sur CHAQUE requête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Redirige AVANT que la page ne render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UX uniquement — pas la sécurité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3840480"/>
            <a:ext cx="329184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3840480"/>
            <a:ext cx="109728" cy="256032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393192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Vraie sécurité : 2 couches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297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RLS Postgres (read+write)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Dépendance require_verified() FastAPI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Le middleware est juste UX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→ Si un user contourne le middleware,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   la DB refuse de toute façon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02 — Backend &amp;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Communication Front ↔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Deux canaux complémentaires — sécurisés par RLS Postgres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5577840" cy="4572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① Direct Supabase (CRUD simple)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Frontend ↔ PostgREST via @supabase/ssr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JWT propagé via cookies HttpOnly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RLS appliquée côté base — pas de leak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Realtime channels (futur)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Storage SDK (upload KYC, photos)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Quand l'utiliser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Lectures de listes (ads, parcelles)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Mutations triviales protégées par RLS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Upload de fichiers vers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55778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280160"/>
            <a:ext cx="5577840" cy="457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37160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② FastAPI (logique métier + intégrations)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Endpoints REST documentés (OpenAPI auto)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Vérif JWT côté serveur (PyJWT + JWKS)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Orchestration : devices, diagnostics IA, KYC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Intégrations : Gemini, Sentinel-2, Brevo, OWM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Workers asynchrones via 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Quand l'utiliser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Pairing device (génère + bcrypt côté serveur)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Déclencher diagnostic IA (workflow)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Modération KYC (transitions admin)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EA46E"/>
                </a:solidFill>
                <a:latin typeface="Calibri"/>
              </a:rPr>
              <a:t>•  Tout ce qui touche un secret ou un service externe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02 — Backend &amp;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7432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0" b="1" i="0">
                <a:solidFill>
                  <a:srgbClr val="00B8A9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94560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46120"/>
            <a:ext cx="8229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1">
                <a:solidFill>
                  <a:srgbClr val="F5C142"/>
                </a:solidFill>
                <a:latin typeface="Calibri"/>
              </a:rPr>
              <a:t>Défense en profondeur — DB, API, Edge,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 programme de cette section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Les 4 piliers — une couche défensive par niveau du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6 — Bcrypt + pgcrypto.crypt (constant-time)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PREUVE 7 — RLS policy katara_devices_insert (vraie 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Surface d'attaque : 7 risques identifiés + leurs mitigations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Tests &amp; garde-fous (allowlist service_role, contract test)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Sécurité — 4 piliers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Défense en profondeur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7889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788920" cy="6400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2788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Authentification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2606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Supabase Auth (email/password)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JWT HS256 signé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Cookies HttpOnly + Secure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Refresh token rotation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Blocage signup admin (trigger SQL)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Headers : WWW-Authenticate Bearer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188720"/>
            <a:ext cx="27889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188720"/>
            <a:ext cx="2788920" cy="64008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280160"/>
            <a:ext cx="2788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AUTHZ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96596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Autorisation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77440"/>
            <a:ext cx="2606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JWT custom claim 'user_role'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Auth Hook PL/pgSQL (mig. 0006)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Fonction SQL has_role()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RLS sur 100% des tables (54 policies)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FORCE ROW LEVEL SECURITY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Vues SECURITY INVOKER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27889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278892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280160"/>
            <a:ext cx="2788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6596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Données &amp;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77440"/>
            <a:ext cx="2606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Buckets séparés (privé / public)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Storage policies RLS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Audit guards SQL (RAISE)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Migration bookkeeping RLS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service_role allowlist testée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Verification claim AUTH-06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188720"/>
            <a:ext cx="27889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81160" y="1188720"/>
            <a:ext cx="2788920" cy="64008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1280160"/>
            <a:ext cx="2788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DEVICES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96596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Devices IoT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377440"/>
            <a:ext cx="2606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Clé vk_&lt;32 hex&gt; (128 bits)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Hash bcrypt cost=10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Affichée 1x au pairing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pgcrypto.crypt constant-time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Endpoint ingest = service_role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55606B"/>
                </a:solidFill>
                <a:latin typeface="Calibri"/>
              </a:rPr>
              <a:t>•  Rotate + unlink supportés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03 — Sécurité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6 — Bcrypt + pgcrypto (constant-time)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La clé device n'est JAMAIS stockée en clair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34440"/>
            <a:ext cx="52669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① Génération + hash côté Python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5266944" cy="4901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# backend/app/core/api_keys.py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_PREFIX = </a:t>
            </a:r>
            <a:r>
              <a:rPr sz="1000">
                <a:solidFill>
                  <a:srgbClr val="9BE388"/>
                </a:solidFill>
                <a:latin typeface="Consolas"/>
              </a:rPr>
              <a:t>'vk_'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_HEX_BYTES = 16          # 128 bits d'entropie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_BCRYPT_COST = 10        # ~10 ms sur VPS demo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def</a:t>
            </a:r>
            <a:r>
              <a:rPr sz="1000">
                <a:solidFill>
                  <a:srgbClr val="FFFFFF"/>
                </a:solidFill>
                <a:latin typeface="Consolas"/>
              </a:rPr>
              <a:t> generate_device_api_key() -&gt; str: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return</a:t>
            </a:r>
            <a:r>
              <a:rPr sz="1000">
                <a:solidFill>
                  <a:srgbClr val="FFFFFF"/>
                </a:solidFill>
                <a:latin typeface="Consolas"/>
              </a:rPr>
              <a:t> _PREFIX + secrets.token_hex(_HEX_BYTES)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def</a:t>
            </a:r>
            <a:r>
              <a:rPr sz="1000">
                <a:solidFill>
                  <a:srgbClr val="FFFFFF"/>
                </a:solidFill>
                <a:latin typeface="Consolas"/>
              </a:rPr>
              <a:t> hash_device_api_key(plaintext: str) -&gt; str: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raw = bcrypt.hashpw(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plaintext.encode(</a:t>
            </a:r>
            <a:r>
              <a:rPr sz="1000">
                <a:solidFill>
                  <a:srgbClr val="9BE388"/>
                </a:solidFill>
                <a:latin typeface="Consolas"/>
              </a:rPr>
              <a:t>'utf-8'</a:t>
            </a:r>
            <a:r>
              <a:rPr sz="1000">
                <a:solidFill>
                  <a:srgbClr val="FFFFFF"/>
                </a:solidFill>
                <a:latin typeface="Consolas"/>
              </a:rPr>
              <a:t>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bcrypt.gensalt(rounds=_BCRYPT_COST),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# Python bcrypt émet $2b$, pgcrypto attend $2a$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# Mêmes algos, juste prefix différent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return</a:t>
            </a:r>
            <a:r>
              <a:rPr sz="1000">
                <a:solidFill>
                  <a:srgbClr val="FFFFFF"/>
                </a:solidFill>
                <a:latin typeface="Consolas"/>
              </a:rPr>
              <a:t> raw.decode().replace(</a:t>
            </a:r>
            <a:r>
              <a:rPr sz="1000">
                <a:solidFill>
                  <a:srgbClr val="9BE388"/>
                </a:solidFill>
                <a:latin typeface="Consolas"/>
              </a:rPr>
              <a:t>'$2b$'</a:t>
            </a:r>
            <a:r>
              <a:rPr sz="1000">
                <a:solidFill>
                  <a:srgbClr val="FFFFFF"/>
                </a:solidFill>
                <a:latin typeface="Consolas"/>
              </a:rPr>
              <a:t>, </a:t>
            </a:r>
            <a:r>
              <a:rPr sz="1000">
                <a:solidFill>
                  <a:srgbClr val="9BE388"/>
                </a:solidFill>
                <a:latin typeface="Consolas"/>
              </a:rPr>
              <a:t>'$2a$'</a:t>
            </a:r>
            <a:r>
              <a:rPr sz="1000">
                <a:solidFill>
                  <a:srgbClr val="FFFFFF"/>
                </a:solidFill>
                <a:latin typeface="Consolas"/>
              </a:rPr>
              <a:t>, 1)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def</a:t>
            </a:r>
            <a:r>
              <a:rPr sz="1000">
                <a:solidFill>
                  <a:srgbClr val="FFFFFF"/>
                </a:solidFill>
                <a:latin typeface="Consolas"/>
              </a:rPr>
              <a:t> last4(plaintext: str) -&gt; str: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return</a:t>
            </a:r>
            <a:r>
              <a:rPr sz="1000">
                <a:solidFill>
                  <a:srgbClr val="FFFFFF"/>
                </a:solidFill>
                <a:latin typeface="Consolas"/>
              </a:rPr>
              <a:t> plaintext[-4:]    # UI display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577840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234440"/>
            <a:ext cx="53583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② Vérification côté Postgres (migration 0017)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81328"/>
            <a:ext cx="5358384" cy="4901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create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public.verify_device_api_key(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p_device_id text,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p_api_key   text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) </a:t>
            </a:r>
            <a:r>
              <a:rPr sz="1000">
                <a:solidFill>
                  <a:srgbClr val="F5C142"/>
                </a:solidFill>
                <a:latin typeface="Consolas"/>
              </a:rPr>
              <a:t>returns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table</a:t>
            </a:r>
            <a:r>
              <a:rPr sz="1000">
                <a:solidFill>
                  <a:srgbClr val="FFFFFF"/>
                </a:solidFill>
                <a:latin typeface="Consolas"/>
              </a:rPr>
              <a:t>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device_row_id uuid,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parcel_id     uuid,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farmer_id     uuid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language</a:t>
            </a:r>
            <a:r>
              <a:rPr sz="1000">
                <a:solidFill>
                  <a:srgbClr val="FFFFFF"/>
                </a:solidFill>
                <a:latin typeface="Consolas"/>
              </a:rPr>
              <a:t> sql stable </a:t>
            </a:r>
            <a:r>
              <a:rPr sz="1000">
                <a:solidFill>
                  <a:srgbClr val="F5C142"/>
                </a:solidFill>
                <a:latin typeface="Consolas"/>
              </a:rPr>
              <a:t>security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definer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set search_path = public, pg_temp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as</a:t>
            </a:r>
            <a:r>
              <a:rPr sz="1000">
                <a:solidFill>
                  <a:srgbClr val="FFFFFF"/>
                </a:solidFill>
                <a:latin typeface="Consolas"/>
              </a:rPr>
              <a:t> $$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  <a:r>
              <a:rPr sz="1000">
                <a:solidFill>
                  <a:srgbClr val="FFFFFF"/>
                </a:solidFill>
                <a:latin typeface="Consolas"/>
              </a:rPr>
              <a:t> d.id, d.parcel_id, d.farmer_id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public.m1_katara_devices 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</a:t>
            </a:r>
            <a:r>
              <a:rPr sz="1000">
                <a:solidFill>
                  <a:srgbClr val="F5C142"/>
                </a:solidFill>
                <a:latin typeface="Consolas"/>
              </a:rPr>
              <a:t>where</a:t>
            </a:r>
            <a:r>
              <a:rPr sz="1000">
                <a:solidFill>
                  <a:srgbClr val="FFFFFF"/>
                </a:solidFill>
                <a:latin typeface="Consolas"/>
              </a:rPr>
              <a:t> d.device_id    = p_device_id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d.status      &lt;&gt; </a:t>
            </a:r>
            <a:r>
              <a:rPr sz="1000">
                <a:solidFill>
                  <a:srgbClr val="9BE388"/>
                </a:solidFill>
                <a:latin typeface="Consolas"/>
              </a:rPr>
              <a:t>'UNLINKED'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-- crypt() = constant-time compare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-- en C dans pgcrypto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d.api_key_hash =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extensions.crypt(p_api_key, d.api_key_hash)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limit 1;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$$;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revoke</a:t>
            </a:r>
            <a:r>
              <a:rPr sz="1000">
                <a:solidFill>
                  <a:srgbClr val="FFFFFF"/>
                </a:solidFill>
                <a:latin typeface="Consolas"/>
              </a:rPr>
              <a:t> all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public.verify_device_api_key(text, text)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public;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grant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execute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function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public.verify_device_api_key(text, text)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to</a:t>
            </a:r>
            <a:r>
              <a:rPr sz="1000">
                <a:solidFill>
                  <a:srgbClr val="FFFFFF"/>
                </a:solidFill>
                <a:latin typeface="Consolas"/>
              </a:rPr>
              <a:t> service_role;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03 — Sécurité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Preuve 7 — RLS policy (vraie SQL en prod)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katara_devices_insert — 3 conditions cumulatives, contrat AUTH-04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7315200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34440"/>
            <a:ext cx="70957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1">
                <a:solidFill>
                  <a:srgbClr val="F5C142"/>
                </a:solidFill>
                <a:latin typeface="Consolas"/>
              </a:rPr>
              <a:t>db/migrations/0017_kat02_katara_devices.sql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7095744" cy="4901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alter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table</a:t>
            </a:r>
            <a:r>
              <a:rPr sz="1000">
                <a:solidFill>
                  <a:srgbClr val="FFFFFF"/>
                </a:solidFill>
                <a:latin typeface="Consolas"/>
              </a:rPr>
              <a:t> public.m1_katara_devices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enable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row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level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security</a:t>
            </a:r>
            <a:r>
              <a:rPr sz="100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-- + FORCE (via trigger AUTH-04, slide 8)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7A8797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5C142"/>
                </a:solidFill>
                <a:latin typeface="Consolas"/>
              </a:rPr>
              <a:t>create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policy</a:t>
            </a:r>
            <a:r>
              <a:rPr sz="1000">
                <a:solidFill>
                  <a:srgbClr val="FFFFFF"/>
                </a:solidFill>
                <a:latin typeface="Consolas"/>
              </a:rPr>
              <a:t> katara_devices_insert_verified_farmer_owns_parcel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on</a:t>
            </a:r>
            <a:r>
              <a:rPr sz="1000">
                <a:solidFill>
                  <a:srgbClr val="FFFFFF"/>
                </a:solidFill>
                <a:latin typeface="Consolas"/>
              </a:rPr>
              <a:t> public.m1_katara_devices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for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insert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to</a:t>
            </a:r>
            <a:r>
              <a:rPr sz="1000">
                <a:solidFill>
                  <a:srgbClr val="FFFFFF"/>
                </a:solidFill>
                <a:latin typeface="Consolas"/>
              </a:rPr>
              <a:t> authenticated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</a:t>
            </a:r>
            <a:r>
              <a:rPr sz="1000">
                <a:solidFill>
                  <a:srgbClr val="F5C142"/>
                </a:solidFill>
                <a:latin typeface="Consolas"/>
              </a:rPr>
              <a:t>with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check</a:t>
            </a:r>
            <a:r>
              <a:rPr sz="1000">
                <a:solidFill>
                  <a:srgbClr val="FFFFFF"/>
                </a:solidFill>
                <a:latin typeface="Consolas"/>
              </a:rPr>
              <a:t>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 -- ① le caller est bien le farmer revendiqué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auth.uid() = farmer_id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 -- ② et il a le rôle FARMER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public.has_role(</a:t>
            </a:r>
            <a:r>
              <a:rPr sz="1000">
                <a:solidFill>
                  <a:srgbClr val="9BE388"/>
                </a:solidFill>
                <a:latin typeface="Consolas"/>
              </a:rPr>
              <a:t>'FARMER'</a:t>
            </a:r>
            <a:r>
              <a:rPr sz="1000">
                <a:solidFill>
                  <a:srgbClr val="FFFFFF"/>
                </a:solidFill>
                <a:latin typeface="Consolas"/>
              </a:rPr>
              <a:t>::public.user_role)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 -- ③ et son KYC est VERIFIED (claim AUTH-06)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  <a:r>
              <a:rPr sz="1000">
                <a:solidFill>
                  <a:srgbClr val="FFFFFF"/>
                </a:solidFill>
                <a:latin typeface="Consolas"/>
              </a:rPr>
              <a:t> verification_status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public.profiles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where</a:t>
            </a:r>
            <a:r>
              <a:rPr sz="1000">
                <a:solidFill>
                  <a:srgbClr val="FFFFFF"/>
                </a:solidFill>
                <a:latin typeface="Consolas"/>
              </a:rPr>
              <a:t> id = auth.uid()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) = </a:t>
            </a:r>
            <a:r>
              <a:rPr sz="1000">
                <a:solidFill>
                  <a:srgbClr val="9BE388"/>
                </a:solidFill>
                <a:latin typeface="Consolas"/>
              </a:rPr>
              <a:t>'VERIFIED'</a:t>
            </a:r>
          </a:p>
          <a:p>
            <a:pPr algn="l">
              <a:spcAft>
                <a:spcPts val="0"/>
              </a:spcAft>
            </a:pPr>
            <a:endParaRPr sz="1000">
              <a:solidFill>
                <a:srgbClr val="9BE388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A8797"/>
                </a:solidFill>
                <a:latin typeface="Consolas"/>
              </a:rPr>
              <a:t>        -- ④ et la parcelle visée lui appartient bien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  <a:r>
              <a:rPr sz="1000">
                <a:solidFill>
                  <a:srgbClr val="F5C142"/>
                </a:solidFill>
                <a:latin typeface="Consolas"/>
              </a:rPr>
              <a:t>exists</a:t>
            </a:r>
            <a:r>
              <a:rPr sz="1000">
                <a:solidFill>
                  <a:srgbClr val="FFFFFF"/>
                </a:solidFill>
                <a:latin typeface="Consolas"/>
              </a:rPr>
              <a:t>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select</a:t>
            </a:r>
            <a:r>
              <a:rPr sz="1000">
                <a:solidFill>
                  <a:srgbClr val="FFFFFF"/>
                </a:solidFill>
                <a:latin typeface="Consolas"/>
              </a:rPr>
              <a:t> 1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from</a:t>
            </a:r>
            <a:r>
              <a:rPr sz="1000">
                <a:solidFill>
                  <a:srgbClr val="FFFFFF"/>
                </a:solidFill>
                <a:latin typeface="Consolas"/>
              </a:rPr>
              <a:t> public.m1_katara_parcels p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where</a:t>
            </a:r>
            <a:r>
              <a:rPr sz="1000">
                <a:solidFill>
                  <a:srgbClr val="FFFFFF"/>
                </a:solidFill>
                <a:latin typeface="Consolas"/>
              </a:rPr>
              <a:t> p.id = parcel_id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  </a:t>
            </a:r>
            <a:r>
              <a:rPr sz="1000">
                <a:solidFill>
                  <a:srgbClr val="F5C142"/>
                </a:solidFill>
                <a:latin typeface="Consolas"/>
              </a:rPr>
              <a:t>and</a:t>
            </a:r>
            <a:r>
              <a:rPr sz="1000">
                <a:solidFill>
                  <a:srgbClr val="FFFFFF"/>
                </a:solidFill>
                <a:latin typeface="Consolas"/>
              </a:rPr>
              <a:t> p.farmer_id = auth.uid()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188720"/>
            <a:ext cx="109728" cy="52120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2801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Lecture ligne par ligne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6916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① Anti-spoofing du farmer_id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② Rôle (du JWT claim)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③ KYC réellement validé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④ Possession effective de la parcelle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38912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Défense en profondeur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Le code Python valide les mêmes conditions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→ deux barrières indépendantes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→ une couche peut tomber sans leak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03 — 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Surface d'attaque &amp;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Risques identifiés → contre-mesures en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23444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Vol de clé device 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554480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Hash bcrypt cost=10 en base, plaintext jamais persisté. Ingest = service_role uniquement. Unlink + rotate.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38528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121408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984248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Injection prompt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04288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Jinja2 autoescape=on sur tous templates. Inputs utilisateur tronqués, templates dédiés FR/AR/EN.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88336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871216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34056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Élévation privilèges via signup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54096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Trigger SQL AUTH-02 bloque l'auto-signup avec role=admin. Création admin par script CLI.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621024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83864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Leak documents KYC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03904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Bucket privé kyc-private + Storage policies RLS. Signed URLs courte durée pour preview admin.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87952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370832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3367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Bypass RLS par owner BDD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53712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FORCE ROW LEVEL SECURITY → personne n'échappe, même superuser. service_role usage allowlisté.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512064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Énumération devices via timing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03520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Erreur constante _INVALID_CREDS, bcrypt verify constant-time (pgcrypto en C), pas de leak d'existence.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87568"/>
            <a:ext cx="365760" cy="685800"/>
          </a:xfrm>
          <a:prstGeom prst="rect">
            <a:avLst/>
          </a:prstGeom>
          <a:solidFill>
            <a:srgbClr val="E04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5870448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733288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</a:rPr>
              <a:t>XSS / CSRF 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6053328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606B"/>
                </a:solidFill>
                <a:latin typeface="Calibri"/>
              </a:rPr>
              <a:t>React 19 escape par défaut, Zod valide tous formulaires, cookies HttpOnly + SameSite=Lax, CORS strict.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03 — Sécurité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Tests &amp; garde-fous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Ce qui empêche une régression de passer en 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548640"/>
            <a:ext cx="1554480" cy="2743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0" y="5669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AXE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3749039" cy="548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Tests Postgres (pgTAP-like)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auth04_rls_contract.sql : assertions sur 100% tables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kat02_devices_rls.sql : 16 scénarios cross-farmer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kat03_ingest_force_rls.sql : INSERT direct refusé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Rejoués à chaque CI sur DB de test fraîche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3749039" cy="54864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Tests Python (pytest)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41 fichiers test_*.py côté backend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test_service_client_callsite_allowlist.py :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  → grep tous les usages de service_role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  → fail si callsite non documenté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test_security_ingest.py : énumération impossible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749039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Garde-fous 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scripts/verify-rls-enabled.sh (shell)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Lint : ruff + mypy strict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Type-check : tsc --noEmit côté Next.js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Sentry alerte sur erreurs prod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55606B"/>
                </a:solidFill>
                <a:latin typeface="Calibri"/>
              </a:rPr>
              <a:t>•  Pre-commit hooks (format + lint + tests rapides)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30000" cy="182880"/>
          </a:xfrm>
          <a:prstGeom prst="rect">
            <a:avLst/>
          </a:prstGeom>
          <a:solidFill>
            <a:srgbClr val="2E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03 — Sécurité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5C142"/>
                </a:solidFill>
                <a:latin typeface="Calibri"/>
              </a:rPr>
              <a:t>Roadmap restante avant soutenance + post-PFE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00B8A9"/>
                </a:solidFill>
                <a:latin typeface="Calibri"/>
              </a:rPr>
              <a:t>VitaChain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749039" cy="6400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Court terme  (2-3 sem.)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KAT — stories pH/EC restantes (schema update)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FAR-11 → FAR-13 : factures PDF, litiges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CI/CD : déploiement auto Vercel + Fly.io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Tests E2E Playwright sur parcours critiques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Documentation API publique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749039" cy="64008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Moyen terme  (1-2 mois)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Module SecondServe (invendus restau.)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Application mobile (PWA installable)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Notifications push (Web Push API)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Dashboard analytics admin (charts)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Internationalisation AR + EN complète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Industrialisation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Audit sécurité externe (pen-test)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Monitoring : Grafana + Prometheus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Backups Postgres auto + tests restore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Documentation technique complète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55606B"/>
                </a:solidFill>
                <a:latin typeface="Calibri"/>
              </a:rPr>
              <a:t>•  ESP32 OTA (firmware update à distance)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620256"/>
            <a:ext cx="73152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VitaChain — État d'avancement | Mai 2026  • 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20256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0">
                <a:solidFill>
                  <a:srgbClr val="00B8A9"/>
                </a:solidFill>
                <a:latin typeface="Calibri"/>
              </a:rPr>
              <a:t>Questions &amp; démonstration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F5C142"/>
                </a:solidFill>
                <a:latin typeface="Calibri"/>
              </a:rPr>
              <a:t>Yasser  —  PFE VitaChain  —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yasseralgoside@gmail.com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1">
                <a:solidFill>
                  <a:srgbClr val="F5C142"/>
                </a:solidFill>
                <a:latin typeface="Consolas"/>
              </a:rPr>
              <a:t>Démo live au programme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1. Pair ESP32 → 2. Voir télémétrie temps réel → 3. Diagnostic IA → 4. Cycle de commande FarMarket complet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4518</Words>
  <Application>Microsoft Office PowerPoint</Application>
  <PresentationFormat>Grand écran</PresentationFormat>
  <Paragraphs>836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2026-05-25T07:10:18Z</dcterms:modified>
  <cp:category/>
</cp:coreProperties>
</file>